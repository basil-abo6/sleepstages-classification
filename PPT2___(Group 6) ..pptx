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0" r:id="rId1"/>
    <p:sldMasterId id="2147483682" r:id="rId2"/>
  </p:sldMasterIdLst>
  <p:notesMasterIdLst>
    <p:notesMasterId r:id="rId26"/>
  </p:notesMasterIdLst>
  <p:sldIdLst>
    <p:sldId id="256" r:id="rId3"/>
    <p:sldId id="258" r:id="rId4"/>
    <p:sldId id="308" r:id="rId5"/>
    <p:sldId id="257" r:id="rId6"/>
    <p:sldId id="330" r:id="rId7"/>
    <p:sldId id="327" r:id="rId8"/>
    <p:sldId id="332" r:id="rId9"/>
    <p:sldId id="328" r:id="rId10"/>
    <p:sldId id="343" r:id="rId11"/>
    <p:sldId id="341" r:id="rId12"/>
    <p:sldId id="336" r:id="rId13"/>
    <p:sldId id="334" r:id="rId14"/>
    <p:sldId id="261" r:id="rId15"/>
    <p:sldId id="337" r:id="rId16"/>
    <p:sldId id="263" r:id="rId17"/>
    <p:sldId id="339" r:id="rId18"/>
    <p:sldId id="265" r:id="rId19"/>
    <p:sldId id="266" r:id="rId20"/>
    <p:sldId id="338" r:id="rId21"/>
    <p:sldId id="340" r:id="rId22"/>
    <p:sldId id="267" r:id="rId23"/>
    <p:sldId id="268" r:id="rId24"/>
    <p:sldId id="269" r:id="rId2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0A9E"/>
    <a:srgbClr val="1A29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E8847D9-508C-4649-9387-B9BE41D08A9E}">
  <a:tblStyle styleId="{DE8847D9-508C-4649-9387-B9BE41D08A9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18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gd1bf8d60a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8" name="Google Shape;1428;gd1bf8d60a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g24e5c2c9e45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4" name="Google Shape;1464;g24e5c2c9e45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2">
          <a:extLst>
            <a:ext uri="{FF2B5EF4-FFF2-40B4-BE49-F238E27FC236}">
              <a16:creationId xmlns:a16="http://schemas.microsoft.com/office/drawing/2014/main" id="{165458FC-32FE-1873-0CCC-44331CE75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g24e5c2c9e45_0_138:notes">
            <a:extLst>
              <a:ext uri="{FF2B5EF4-FFF2-40B4-BE49-F238E27FC236}">
                <a16:creationId xmlns:a16="http://schemas.microsoft.com/office/drawing/2014/main" id="{FF9E6071-D25C-F155-6E32-216DF97618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4" name="Google Shape;1464;g24e5c2c9e45_0_138:notes">
            <a:extLst>
              <a:ext uri="{FF2B5EF4-FFF2-40B4-BE49-F238E27FC236}">
                <a16:creationId xmlns:a16="http://schemas.microsoft.com/office/drawing/2014/main" id="{3E811D9E-FF45-F6F9-2296-8B5309145E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41597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C1651-C95E-0C1D-6DFB-7235E4D1A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DDB11C-69E1-74BE-B28A-AE15C1A9E9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A90788-5068-1A94-B8A6-75CB104CBA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AC8591-249C-30CC-45AD-133D233603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9979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EFA83-D78F-6E4E-B49C-260488B2C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D47E7C-FE59-C0F9-D686-82E989C744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12239F-F83E-67AB-82CA-EABC6BA3CD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DA8B81-11A3-F4D6-2298-C69EA97B61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7381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85019-BBEE-17EF-1A61-702424CB5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FE1BFD-105F-6277-5FEC-4F1714345D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25C608-6C94-5354-3D78-5DB90EF865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4928AE-AD51-13EB-E950-9F889184A4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4008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9B8DF-C981-FE5F-9D08-D1DFFBD40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D4F8E7-D4C5-1BD1-F931-098D186B34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1BAF3B-4BAE-D4B4-0CD5-7F790755AB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4AEB40-36F9-1ABD-550A-F00D6F8104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7662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9043A-800E-AA9E-EA94-9A960911E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333E9F-BE00-847F-FA0E-6A147BB0FD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CAFA53-3826-FCE0-71CF-A620138435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041C90-0D3D-B5B1-954A-44737BF161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0973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3255180" y="-2900775"/>
            <a:ext cx="10039930" cy="6871129"/>
            <a:chOff x="-3102780" y="-2727750"/>
            <a:chExt cx="10039930" cy="6871129"/>
          </a:xfrm>
        </p:grpSpPr>
        <p:grpSp>
          <p:nvGrpSpPr>
            <p:cNvPr id="10" name="Google Shape;10;p2"/>
            <p:cNvGrpSpPr/>
            <p:nvPr/>
          </p:nvGrpSpPr>
          <p:grpSpPr>
            <a:xfrm rot="-7778255">
              <a:off x="-2414440" y="-1445047"/>
              <a:ext cx="5355679" cy="4305724"/>
              <a:chOff x="7103825" y="-713112"/>
              <a:chExt cx="3785226" cy="3043150"/>
            </a:xfrm>
          </p:grpSpPr>
          <p:sp>
            <p:nvSpPr>
              <p:cNvPr id="11" name="Google Shape;11;p2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2" name="Google Shape;12;p2"/>
              <p:cNvPicPr preferRelativeResize="0"/>
              <p:nvPr/>
            </p:nvPicPr>
            <p:blipFill rotWithShape="1">
              <a:blip r:embed="rId2">
                <a:alphaModFix/>
              </a:blip>
              <a:srcRect t="17657" b="17664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3" name="Google Shape;13;p2"/>
            <p:cNvSpPr/>
            <p:nvPr/>
          </p:nvSpPr>
          <p:spPr>
            <a:xfrm>
              <a:off x="-289323" y="-166742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2700000">
              <a:off x="917817" y="-2200499"/>
              <a:ext cx="3153371" cy="5119296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-201475" y="-361175"/>
              <a:ext cx="7138625" cy="819350"/>
            </a:xfrm>
            <a:custGeom>
              <a:avLst/>
              <a:gdLst/>
              <a:ahLst/>
              <a:cxnLst/>
              <a:rect l="l" t="t" r="r" b="b"/>
              <a:pathLst>
                <a:path w="285545" h="32774" extrusionOk="0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" name="Google Shape;16;p2"/>
            <p:cNvSpPr/>
            <p:nvPr/>
          </p:nvSpPr>
          <p:spPr>
            <a:xfrm rot="5400000">
              <a:off x="1110859" y="-1245788"/>
              <a:ext cx="577450" cy="3045475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5400000">
              <a:off x="654013" y="-781254"/>
              <a:ext cx="687411" cy="2731351"/>
            </a:xfrm>
            <a:custGeom>
              <a:avLst/>
              <a:gdLst/>
              <a:ahLst/>
              <a:cxnLst/>
              <a:rect l="l" t="t" r="r" b="b"/>
              <a:pathLst>
                <a:path w="16760" h="43180" extrusionOk="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" name="Google Shape;18;p2"/>
            <p:cNvGrpSpPr/>
            <p:nvPr/>
          </p:nvGrpSpPr>
          <p:grpSpPr>
            <a:xfrm flipH="1">
              <a:off x="4446909" y="391151"/>
              <a:ext cx="134044" cy="134013"/>
              <a:chOff x="1101075" y="2142375"/>
              <a:chExt cx="439200" cy="439100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" name="Google Shape;21;p2"/>
            <p:cNvGrpSpPr/>
            <p:nvPr/>
          </p:nvGrpSpPr>
          <p:grpSpPr>
            <a:xfrm flipH="1">
              <a:off x="1373609" y="694563"/>
              <a:ext cx="134044" cy="134013"/>
              <a:chOff x="1101075" y="2142375"/>
              <a:chExt cx="439200" cy="439100"/>
            </a:xfrm>
          </p:grpSpPr>
          <p:sp>
            <p:nvSpPr>
              <p:cNvPr id="22" name="Google Shape;22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" name="Google Shape;24;p2"/>
            <p:cNvGrpSpPr/>
            <p:nvPr/>
          </p:nvGrpSpPr>
          <p:grpSpPr>
            <a:xfrm flipH="1">
              <a:off x="1086834" y="957463"/>
              <a:ext cx="134044" cy="134013"/>
              <a:chOff x="1101075" y="2142375"/>
              <a:chExt cx="439200" cy="439100"/>
            </a:xfrm>
          </p:grpSpPr>
          <p:sp>
            <p:nvSpPr>
              <p:cNvPr id="25" name="Google Shape;25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" name="Google Shape;27;p2"/>
            <p:cNvGrpSpPr/>
            <p:nvPr/>
          </p:nvGrpSpPr>
          <p:grpSpPr>
            <a:xfrm flipH="1">
              <a:off x="277709" y="957463"/>
              <a:ext cx="134044" cy="134013"/>
              <a:chOff x="1101075" y="2142375"/>
              <a:chExt cx="439200" cy="439100"/>
            </a:xfrm>
          </p:grpSpPr>
          <p:sp>
            <p:nvSpPr>
              <p:cNvPr id="28" name="Google Shape;28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" name="Google Shape;30;p2"/>
            <p:cNvGrpSpPr/>
            <p:nvPr/>
          </p:nvGrpSpPr>
          <p:grpSpPr>
            <a:xfrm flipH="1">
              <a:off x="277709" y="640813"/>
              <a:ext cx="134044" cy="134013"/>
              <a:chOff x="1101075" y="2142375"/>
              <a:chExt cx="439200" cy="439100"/>
            </a:xfrm>
          </p:grpSpPr>
          <p:sp>
            <p:nvSpPr>
              <p:cNvPr id="31" name="Google Shape;31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3" name="Google Shape;33;p2"/>
          <p:cNvGrpSpPr/>
          <p:nvPr/>
        </p:nvGrpSpPr>
        <p:grpSpPr>
          <a:xfrm>
            <a:off x="6385735" y="3039700"/>
            <a:ext cx="3920501" cy="3213899"/>
            <a:chOff x="6309535" y="2842975"/>
            <a:chExt cx="3920501" cy="3213899"/>
          </a:xfrm>
        </p:grpSpPr>
        <p:pic>
          <p:nvPicPr>
            <p:cNvPr id="34" name="Google Shape;34;p2"/>
            <p:cNvPicPr preferRelativeResize="0"/>
            <p:nvPr/>
          </p:nvPicPr>
          <p:blipFill rotWithShape="1">
            <a:blip r:embed="rId3">
              <a:alphaModFix/>
            </a:blip>
            <a:srcRect l="16960" t="24719" r="7121" b="26177"/>
            <a:stretch/>
          </p:blipFill>
          <p:spPr>
            <a:xfrm>
              <a:off x="6309535" y="3064650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" name="Google Shape;35;p2"/>
            <p:cNvSpPr/>
            <p:nvPr/>
          </p:nvSpPr>
          <p:spPr>
            <a:xfrm rot="10800000">
              <a:off x="7535449" y="2941132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 rot="10800000">
              <a:off x="7694795" y="2941747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280400" y="3719575"/>
              <a:ext cx="582050" cy="582425"/>
              <a:chOff x="959750" y="3039275"/>
              <a:chExt cx="582050" cy="582425"/>
            </a:xfrm>
          </p:grpSpPr>
          <p:sp>
            <p:nvSpPr>
              <p:cNvPr id="38" name="Google Shape;38;p2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5" name="Google Shape;45;p2"/>
            <p:cNvSpPr/>
            <p:nvPr/>
          </p:nvSpPr>
          <p:spPr>
            <a:xfrm>
              <a:off x="8430775" y="2842975"/>
              <a:ext cx="480893" cy="475828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6" name="Google Shape;46;p2"/>
            <p:cNvGrpSpPr/>
            <p:nvPr/>
          </p:nvGrpSpPr>
          <p:grpSpPr>
            <a:xfrm>
              <a:off x="8337812" y="3492483"/>
              <a:ext cx="699928" cy="1651024"/>
              <a:chOff x="8337812" y="3492483"/>
              <a:chExt cx="699928" cy="1651024"/>
            </a:xfrm>
          </p:grpSpPr>
          <p:sp>
            <p:nvSpPr>
              <p:cNvPr id="47" name="Google Shape;47;p2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avLst/>
                <a:gdLst/>
                <a:ahLst/>
                <a:cxnLst/>
                <a:rect l="l" t="t" r="r" b="b"/>
                <a:pathLst>
                  <a:path w="11779" h="24714" extrusionOk="0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" name="Google Shape;50;p2"/>
            <p:cNvGrpSpPr/>
            <p:nvPr/>
          </p:nvGrpSpPr>
          <p:grpSpPr>
            <a:xfrm>
              <a:off x="7945225" y="4302000"/>
              <a:ext cx="904666" cy="726121"/>
              <a:chOff x="7945225" y="4302000"/>
              <a:chExt cx="904666" cy="726121"/>
            </a:xfrm>
          </p:grpSpPr>
          <p:sp>
            <p:nvSpPr>
              <p:cNvPr id="51" name="Google Shape;51;p2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4" name="Google Shape;54;p2"/>
          <p:cNvSpPr txBox="1">
            <a:spLocks noGrp="1"/>
          </p:cNvSpPr>
          <p:nvPr>
            <p:ph type="ctrTitle"/>
          </p:nvPr>
        </p:nvSpPr>
        <p:spPr>
          <a:xfrm>
            <a:off x="1096850" y="816324"/>
            <a:ext cx="6974700" cy="232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2"/>
          <p:cNvSpPr txBox="1">
            <a:spLocks noGrp="1"/>
          </p:cNvSpPr>
          <p:nvPr>
            <p:ph type="subTitle" idx="1"/>
          </p:nvPr>
        </p:nvSpPr>
        <p:spPr>
          <a:xfrm>
            <a:off x="1096850" y="3456250"/>
            <a:ext cx="48825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56" name="Google Shape;56;p2"/>
          <p:cNvGrpSpPr/>
          <p:nvPr/>
        </p:nvGrpSpPr>
        <p:grpSpPr>
          <a:xfrm>
            <a:off x="-309885" y="3617406"/>
            <a:ext cx="1448824" cy="2238804"/>
            <a:chOff x="-309885" y="3617406"/>
            <a:chExt cx="1448824" cy="2238804"/>
          </a:xfrm>
        </p:grpSpPr>
        <p:grpSp>
          <p:nvGrpSpPr>
            <p:cNvPr id="57" name="Google Shape;57;p2"/>
            <p:cNvGrpSpPr/>
            <p:nvPr/>
          </p:nvGrpSpPr>
          <p:grpSpPr>
            <a:xfrm>
              <a:off x="-277007" y="3870159"/>
              <a:ext cx="981772" cy="1986051"/>
              <a:chOff x="-293545" y="3454371"/>
              <a:chExt cx="981772" cy="1986051"/>
            </a:xfrm>
          </p:grpSpPr>
          <p:sp>
            <p:nvSpPr>
              <p:cNvPr id="58" name="Google Shape;58;p2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" name="Google Shape;60;p2"/>
            <p:cNvGrpSpPr/>
            <p:nvPr/>
          </p:nvGrpSpPr>
          <p:grpSpPr>
            <a:xfrm>
              <a:off x="363249" y="4906873"/>
              <a:ext cx="699940" cy="478601"/>
              <a:chOff x="39722" y="4349021"/>
              <a:chExt cx="1061964" cy="726143"/>
            </a:xfrm>
          </p:grpSpPr>
          <p:grpSp>
            <p:nvGrpSpPr>
              <p:cNvPr id="61" name="Google Shape;61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62" name="Google Shape;62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63" name="Google Shape;63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64" name="Google Shape;64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5" name="Google Shape;65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6" name="Google Shape;66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7" name="Google Shape;67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8" name="Google Shape;68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69" name="Google Shape;69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0" name="Google Shape;70;p2"/>
            <p:cNvGrpSpPr/>
            <p:nvPr/>
          </p:nvGrpSpPr>
          <p:grpSpPr>
            <a:xfrm rot="-5400000">
              <a:off x="-461873" y="3769393"/>
              <a:ext cx="1351491" cy="1047516"/>
              <a:chOff x="-2460210" y="2758493"/>
              <a:chExt cx="1351491" cy="1047516"/>
            </a:xfrm>
          </p:grpSpPr>
          <p:sp>
            <p:nvSpPr>
              <p:cNvPr id="71" name="Google Shape;71;p2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5" name="Google Shape;75;p2"/>
            <p:cNvGrpSpPr/>
            <p:nvPr/>
          </p:nvGrpSpPr>
          <p:grpSpPr>
            <a:xfrm>
              <a:off x="438999" y="4567398"/>
              <a:ext cx="699940" cy="478601"/>
              <a:chOff x="39722" y="4349021"/>
              <a:chExt cx="1061964" cy="726143"/>
            </a:xfrm>
          </p:grpSpPr>
          <p:grpSp>
            <p:nvGrpSpPr>
              <p:cNvPr id="76" name="Google Shape;76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77" name="Google Shape;77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78" name="Google Shape;78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79" name="Google Shape;79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0" name="Google Shape;80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1" name="Google Shape;81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" name="Google Shape;82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3" name="Google Shape;83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84" name="Google Shape;84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5" name="Google Shape;85;p2"/>
            <p:cNvGrpSpPr/>
            <p:nvPr/>
          </p:nvGrpSpPr>
          <p:grpSpPr>
            <a:xfrm>
              <a:off x="-65076" y="4623886"/>
              <a:ext cx="699940" cy="478601"/>
              <a:chOff x="39722" y="4349021"/>
              <a:chExt cx="1061964" cy="726143"/>
            </a:xfrm>
          </p:grpSpPr>
          <p:grpSp>
            <p:nvGrpSpPr>
              <p:cNvPr id="86" name="Google Shape;86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87" name="Google Shape;87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88" name="Google Shape;88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89" name="Google Shape;89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0" name="Google Shape;90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1" name="Google Shape;91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2" name="Google Shape;92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3" name="Google Shape;93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94" name="Google Shape;94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96" name="Google Shape;496;p13"/>
          <p:cNvSpPr txBox="1">
            <a:spLocks noGrp="1"/>
          </p:cNvSpPr>
          <p:nvPr>
            <p:ph type="subTitle" idx="1"/>
          </p:nvPr>
        </p:nvSpPr>
        <p:spPr>
          <a:xfrm>
            <a:off x="720000" y="2244725"/>
            <a:ext cx="26610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7" name="Google Shape;497;p13"/>
          <p:cNvSpPr txBox="1">
            <a:spLocks noGrp="1"/>
          </p:cNvSpPr>
          <p:nvPr>
            <p:ph type="subTitle" idx="2"/>
          </p:nvPr>
        </p:nvSpPr>
        <p:spPr>
          <a:xfrm>
            <a:off x="4366700" y="2244725"/>
            <a:ext cx="26610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8" name="Google Shape;498;p13"/>
          <p:cNvSpPr txBox="1">
            <a:spLocks noGrp="1"/>
          </p:cNvSpPr>
          <p:nvPr>
            <p:ph type="subTitle" idx="3"/>
          </p:nvPr>
        </p:nvSpPr>
        <p:spPr>
          <a:xfrm>
            <a:off x="720000" y="3940900"/>
            <a:ext cx="26610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9" name="Google Shape;499;p13"/>
          <p:cNvSpPr txBox="1">
            <a:spLocks noGrp="1"/>
          </p:cNvSpPr>
          <p:nvPr>
            <p:ph type="subTitle" idx="4"/>
          </p:nvPr>
        </p:nvSpPr>
        <p:spPr>
          <a:xfrm>
            <a:off x="4366700" y="3940900"/>
            <a:ext cx="26610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0" name="Google Shape;500;p13"/>
          <p:cNvSpPr txBox="1">
            <a:spLocks noGrp="1"/>
          </p:cNvSpPr>
          <p:nvPr>
            <p:ph type="title" idx="5" hasCustomPrompt="1"/>
          </p:nvPr>
        </p:nvSpPr>
        <p:spPr>
          <a:xfrm>
            <a:off x="720003" y="1344775"/>
            <a:ext cx="10575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01" name="Google Shape;501;p13"/>
          <p:cNvSpPr txBox="1">
            <a:spLocks noGrp="1"/>
          </p:cNvSpPr>
          <p:nvPr>
            <p:ph type="title" idx="6" hasCustomPrompt="1"/>
          </p:nvPr>
        </p:nvSpPr>
        <p:spPr>
          <a:xfrm>
            <a:off x="720003" y="3040971"/>
            <a:ext cx="10575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02" name="Google Shape;502;p13"/>
          <p:cNvSpPr txBox="1">
            <a:spLocks noGrp="1"/>
          </p:cNvSpPr>
          <p:nvPr>
            <p:ph type="title" idx="7" hasCustomPrompt="1"/>
          </p:nvPr>
        </p:nvSpPr>
        <p:spPr>
          <a:xfrm>
            <a:off x="4366698" y="1344775"/>
            <a:ext cx="10575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03" name="Google Shape;503;p13"/>
          <p:cNvSpPr txBox="1">
            <a:spLocks noGrp="1"/>
          </p:cNvSpPr>
          <p:nvPr>
            <p:ph type="title" idx="8" hasCustomPrompt="1"/>
          </p:nvPr>
        </p:nvSpPr>
        <p:spPr>
          <a:xfrm>
            <a:off x="4366698" y="3040971"/>
            <a:ext cx="10575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04" name="Google Shape;504;p13"/>
          <p:cNvSpPr txBox="1">
            <a:spLocks noGrp="1"/>
          </p:cNvSpPr>
          <p:nvPr>
            <p:ph type="subTitle" idx="9"/>
          </p:nvPr>
        </p:nvSpPr>
        <p:spPr>
          <a:xfrm>
            <a:off x="720000" y="1918675"/>
            <a:ext cx="32337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19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505" name="Google Shape;505;p13"/>
          <p:cNvSpPr txBox="1">
            <a:spLocks noGrp="1"/>
          </p:cNvSpPr>
          <p:nvPr>
            <p:ph type="subTitle" idx="13"/>
          </p:nvPr>
        </p:nvSpPr>
        <p:spPr>
          <a:xfrm>
            <a:off x="4366698" y="1918675"/>
            <a:ext cx="32337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19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506" name="Google Shape;506;p13"/>
          <p:cNvSpPr txBox="1">
            <a:spLocks noGrp="1"/>
          </p:cNvSpPr>
          <p:nvPr>
            <p:ph type="subTitle" idx="14"/>
          </p:nvPr>
        </p:nvSpPr>
        <p:spPr>
          <a:xfrm>
            <a:off x="720000" y="3614801"/>
            <a:ext cx="32337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19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507" name="Google Shape;507;p13"/>
          <p:cNvSpPr txBox="1">
            <a:spLocks noGrp="1"/>
          </p:cNvSpPr>
          <p:nvPr>
            <p:ph type="subTitle" idx="15"/>
          </p:nvPr>
        </p:nvSpPr>
        <p:spPr>
          <a:xfrm>
            <a:off x="4366698" y="3614801"/>
            <a:ext cx="32337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19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grpSp>
        <p:nvGrpSpPr>
          <p:cNvPr id="508" name="Google Shape;508;p13"/>
          <p:cNvGrpSpPr/>
          <p:nvPr/>
        </p:nvGrpSpPr>
        <p:grpSpPr>
          <a:xfrm>
            <a:off x="-808923" y="2711465"/>
            <a:ext cx="2097951" cy="3309497"/>
            <a:chOff x="-656523" y="2711465"/>
            <a:chExt cx="2097951" cy="3309497"/>
          </a:xfrm>
        </p:grpSpPr>
        <p:sp>
          <p:nvSpPr>
            <p:cNvPr id="509" name="Google Shape;509;p13"/>
            <p:cNvSpPr/>
            <p:nvPr/>
          </p:nvSpPr>
          <p:spPr>
            <a:xfrm flipH="1">
              <a:off x="-352474" y="4279466"/>
              <a:ext cx="1139424" cy="986746"/>
            </a:xfrm>
            <a:custGeom>
              <a:avLst/>
              <a:gdLst/>
              <a:ahLst/>
              <a:cxnLst/>
              <a:rect l="l" t="t" r="r" b="b"/>
              <a:pathLst>
                <a:path w="51285" h="44413" extrusionOk="0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0" name="Google Shape;510;p13"/>
            <p:cNvGrpSpPr/>
            <p:nvPr/>
          </p:nvGrpSpPr>
          <p:grpSpPr>
            <a:xfrm>
              <a:off x="323479" y="4682324"/>
              <a:ext cx="328346" cy="328531"/>
              <a:chOff x="3678700" y="407275"/>
              <a:chExt cx="708100" cy="708500"/>
            </a:xfrm>
          </p:grpSpPr>
          <p:sp>
            <p:nvSpPr>
              <p:cNvPr id="511" name="Google Shape;511;p13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13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13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Google Shape;514;p13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Google Shape;515;p13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Google Shape;516;p13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Google Shape;517;p13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18" name="Google Shape;518;p13"/>
            <p:cNvGrpSpPr/>
            <p:nvPr/>
          </p:nvGrpSpPr>
          <p:grpSpPr>
            <a:xfrm>
              <a:off x="-541317" y="2711465"/>
              <a:ext cx="1117945" cy="1598547"/>
              <a:chOff x="-541317" y="2711465"/>
              <a:chExt cx="1117945" cy="1598547"/>
            </a:xfrm>
          </p:grpSpPr>
          <p:sp>
            <p:nvSpPr>
              <p:cNvPr id="519" name="Google Shape;519;p13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3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20" name="Google Shape;520;p13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521" name="Google Shape;521;p1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2" name="Google Shape;522;p1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23" name="Google Shape;523;p13"/>
            <p:cNvGrpSpPr/>
            <p:nvPr/>
          </p:nvGrpSpPr>
          <p:grpSpPr>
            <a:xfrm rot="-9080766">
              <a:off x="-341725" y="3731687"/>
              <a:ext cx="1117904" cy="1598488"/>
              <a:chOff x="-541317" y="2711465"/>
              <a:chExt cx="1117945" cy="1598547"/>
            </a:xfrm>
          </p:grpSpPr>
          <p:sp>
            <p:nvSpPr>
              <p:cNvPr id="524" name="Google Shape;524;p13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3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25" name="Google Shape;525;p13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526" name="Google Shape;526;p1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7" name="Google Shape;527;p1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28" name="Google Shape;528;p13"/>
            <p:cNvGrpSpPr/>
            <p:nvPr/>
          </p:nvGrpSpPr>
          <p:grpSpPr>
            <a:xfrm rot="10800000">
              <a:off x="323483" y="4422415"/>
              <a:ext cx="1117945" cy="1598547"/>
              <a:chOff x="-541317" y="2711465"/>
              <a:chExt cx="1117945" cy="1598547"/>
            </a:xfrm>
          </p:grpSpPr>
          <p:sp>
            <p:nvSpPr>
              <p:cNvPr id="529" name="Google Shape;529;p13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3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30" name="Google Shape;530;p13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531" name="Google Shape;531;p1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2" name="Google Shape;532;p1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533" name="Google Shape;533;p13"/>
          <p:cNvGrpSpPr/>
          <p:nvPr/>
        </p:nvGrpSpPr>
        <p:grpSpPr>
          <a:xfrm>
            <a:off x="6470875" y="-1735180"/>
            <a:ext cx="4257000" cy="4171657"/>
            <a:chOff x="6394675" y="-1658980"/>
            <a:chExt cx="4257000" cy="4171657"/>
          </a:xfrm>
        </p:grpSpPr>
        <p:grpSp>
          <p:nvGrpSpPr>
            <p:cNvPr id="534" name="Google Shape;534;p13"/>
            <p:cNvGrpSpPr/>
            <p:nvPr/>
          </p:nvGrpSpPr>
          <p:grpSpPr>
            <a:xfrm rot="-2700000" flipH="1">
              <a:off x="7289785" y="-1246897"/>
              <a:ext cx="2552124" cy="3347490"/>
              <a:chOff x="2976325" y="908175"/>
              <a:chExt cx="4028179" cy="5283555"/>
            </a:xfrm>
          </p:grpSpPr>
          <p:sp>
            <p:nvSpPr>
              <p:cNvPr id="535" name="Google Shape;535;p13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avLst/>
                <a:gdLst/>
                <a:ahLst/>
                <a:cxnLst/>
                <a:rect l="l" t="t" r="r" b="b"/>
                <a:pathLst>
                  <a:path w="97678" h="115794" extrusionOk="0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Google Shape;536;p13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avLst/>
                <a:gdLst/>
                <a:ahLst/>
                <a:cxnLst/>
                <a:rect l="l" t="t" r="r" b="b"/>
                <a:pathLst>
                  <a:path w="71320" h="74550" extrusionOk="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13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38" name="Google Shape;538;p13"/>
            <p:cNvSpPr/>
            <p:nvPr/>
          </p:nvSpPr>
          <p:spPr>
            <a:xfrm>
              <a:off x="6394675" y="0"/>
              <a:ext cx="284119" cy="246048"/>
            </a:xfrm>
            <a:custGeom>
              <a:avLst/>
              <a:gdLst/>
              <a:ahLst/>
              <a:cxnLst/>
              <a:rect l="l" t="t" r="r" b="b"/>
              <a:pathLst>
                <a:path w="51285" h="44413" extrusionOk="0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0C0A9E">
                    <a:alpha val="2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13"/>
            <p:cNvSpPr/>
            <p:nvPr/>
          </p:nvSpPr>
          <p:spPr>
            <a:xfrm>
              <a:off x="6627600" y="-49075"/>
              <a:ext cx="570546" cy="494095"/>
            </a:xfrm>
            <a:custGeom>
              <a:avLst/>
              <a:gdLst/>
              <a:ahLst/>
              <a:cxnLst/>
              <a:rect l="l" t="t" r="r" b="b"/>
              <a:pathLst>
                <a:path w="51285" h="44413" extrusionOk="0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0" name="Google Shape;540;p13"/>
          <p:cNvGrpSpPr/>
          <p:nvPr/>
        </p:nvGrpSpPr>
        <p:grpSpPr>
          <a:xfrm>
            <a:off x="-113888" y="229201"/>
            <a:ext cx="1891393" cy="134100"/>
            <a:chOff x="-113888" y="229201"/>
            <a:chExt cx="1891393" cy="134100"/>
          </a:xfrm>
        </p:grpSpPr>
        <p:sp>
          <p:nvSpPr>
            <p:cNvPr id="541" name="Google Shape;541;p13"/>
            <p:cNvSpPr/>
            <p:nvPr/>
          </p:nvSpPr>
          <p:spPr>
            <a:xfrm>
              <a:off x="1643404" y="2292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42" name="Google Shape;542;p13"/>
            <p:cNvCxnSpPr/>
            <p:nvPr/>
          </p:nvCxnSpPr>
          <p:spPr>
            <a:xfrm rot="10800000">
              <a:off x="783712" y="-601348"/>
              <a:ext cx="0" cy="1795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43" name="Google Shape;543;p13"/>
            <p:cNvSpPr/>
            <p:nvPr/>
          </p:nvSpPr>
          <p:spPr>
            <a:xfrm>
              <a:off x="1673517" y="2593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9" name="Google Shape;1339;p30"/>
          <p:cNvGrpSpPr/>
          <p:nvPr/>
        </p:nvGrpSpPr>
        <p:grpSpPr>
          <a:xfrm>
            <a:off x="-623241" y="3925887"/>
            <a:ext cx="2833357" cy="1517787"/>
            <a:chOff x="-623241" y="3849687"/>
            <a:chExt cx="2833357" cy="1517787"/>
          </a:xfrm>
        </p:grpSpPr>
        <p:grpSp>
          <p:nvGrpSpPr>
            <p:cNvPr id="1340" name="Google Shape;1340;p30"/>
            <p:cNvGrpSpPr/>
            <p:nvPr/>
          </p:nvGrpSpPr>
          <p:grpSpPr>
            <a:xfrm rot="5400000">
              <a:off x="-879113" y="4155104"/>
              <a:ext cx="1517787" cy="906953"/>
              <a:chOff x="-55500" y="4835979"/>
              <a:chExt cx="1517787" cy="906953"/>
            </a:xfrm>
          </p:grpSpPr>
          <p:sp>
            <p:nvSpPr>
              <p:cNvPr id="1341" name="Google Shape;1341;p30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Google Shape;1342;p30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Google Shape;1343;p30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Google Shape;1344;p30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45" name="Google Shape;1345;p30"/>
            <p:cNvGrpSpPr/>
            <p:nvPr/>
          </p:nvGrpSpPr>
          <p:grpSpPr>
            <a:xfrm>
              <a:off x="-623241" y="3946426"/>
              <a:ext cx="2833357" cy="1421047"/>
              <a:chOff x="-677366" y="4067276"/>
              <a:chExt cx="2833357" cy="1421047"/>
            </a:xfrm>
          </p:grpSpPr>
          <p:sp>
            <p:nvSpPr>
              <p:cNvPr id="1346" name="Google Shape;1346;p30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47" name="Google Shape;1347;p30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348" name="Google Shape;1348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9" name="Google Shape;1349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350" name="Google Shape;1350;p30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351" name="Google Shape;1351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2" name="Google Shape;1352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353" name="Google Shape;1353;p30"/>
            <p:cNvSpPr/>
            <p:nvPr/>
          </p:nvSpPr>
          <p:spPr>
            <a:xfrm rot="-5400000">
              <a:off x="289120" y="3696219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4" name="Google Shape;1354;p30"/>
          <p:cNvGrpSpPr/>
          <p:nvPr/>
        </p:nvGrpSpPr>
        <p:grpSpPr>
          <a:xfrm>
            <a:off x="6323925" y="-1678249"/>
            <a:ext cx="4189199" cy="3065874"/>
            <a:chOff x="6171525" y="-1678249"/>
            <a:chExt cx="4189199" cy="3065874"/>
          </a:xfrm>
        </p:grpSpPr>
        <p:sp>
          <p:nvSpPr>
            <p:cNvPr id="1355" name="Google Shape;1355;p30"/>
            <p:cNvSpPr/>
            <p:nvPr/>
          </p:nvSpPr>
          <p:spPr>
            <a:xfrm rot="-5400000">
              <a:off x="6808863" y="-808395"/>
              <a:ext cx="1558682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56" name="Google Shape;1356;p30"/>
            <p:cNvPicPr preferRelativeResize="0"/>
            <p:nvPr/>
          </p:nvPicPr>
          <p:blipFill rotWithShape="1">
            <a:blip r:embed="rId2">
              <a:alphaModFix/>
            </a:blip>
            <a:srcRect l="16960" t="24719" r="7121" b="26177"/>
            <a:stretch/>
          </p:blipFill>
          <p:spPr>
            <a:xfrm>
              <a:off x="6587425" y="-1678249"/>
              <a:ext cx="3773299" cy="2879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7" name="Google Shape;1357;p30"/>
            <p:cNvSpPr/>
            <p:nvPr/>
          </p:nvSpPr>
          <p:spPr>
            <a:xfrm>
              <a:off x="8292929" y="-80469"/>
              <a:ext cx="904284" cy="86593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58" name="Google Shape;1358;p30"/>
            <p:cNvGrpSpPr/>
            <p:nvPr/>
          </p:nvGrpSpPr>
          <p:grpSpPr>
            <a:xfrm rot="-2700000">
              <a:off x="8302147" y="61289"/>
              <a:ext cx="582044" cy="582419"/>
              <a:chOff x="959750" y="3039275"/>
              <a:chExt cx="582050" cy="582425"/>
            </a:xfrm>
          </p:grpSpPr>
          <p:sp>
            <p:nvSpPr>
              <p:cNvPr id="1359" name="Google Shape;1359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Google Shape;1360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362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Google Shape;1365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66" name="Google Shape;1366;p30"/>
            <p:cNvGrpSpPr/>
            <p:nvPr/>
          </p:nvGrpSpPr>
          <p:grpSpPr>
            <a:xfrm rot="-2700000">
              <a:off x="8551447" y="61289"/>
              <a:ext cx="582044" cy="582419"/>
              <a:chOff x="959750" y="3039275"/>
              <a:chExt cx="582050" cy="582425"/>
            </a:xfrm>
          </p:grpSpPr>
          <p:sp>
            <p:nvSpPr>
              <p:cNvPr id="1367" name="Google Shape;1367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Google Shape;1368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Google Shape;1369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Google Shape;1370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Google Shape;1371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Google Shape;1372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Google Shape;1373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74" name="Google Shape;1374;p30"/>
          <p:cNvGrpSpPr/>
          <p:nvPr/>
        </p:nvGrpSpPr>
        <p:grpSpPr>
          <a:xfrm rot="2700000">
            <a:off x="8945322" y="2352177"/>
            <a:ext cx="439196" cy="439096"/>
            <a:chOff x="1101075" y="2142375"/>
            <a:chExt cx="439200" cy="439100"/>
          </a:xfrm>
        </p:grpSpPr>
        <p:sp>
          <p:nvSpPr>
            <p:cNvPr id="1375" name="Google Shape;1375;p30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30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bg>
      <p:bgPr>
        <a:solidFill>
          <a:schemeClr val="dk2"/>
        </a:solidFill>
        <a:effectLst/>
      </p:bgPr>
    </p:bg>
    <p:spTree>
      <p:nvGrpSpPr>
        <p:cNvPr id="1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8" name="Google Shape;1378;p31"/>
          <p:cNvGrpSpPr/>
          <p:nvPr/>
        </p:nvGrpSpPr>
        <p:grpSpPr>
          <a:xfrm>
            <a:off x="8332551" y="-7"/>
            <a:ext cx="2386151" cy="3293873"/>
            <a:chOff x="8256351" y="-7"/>
            <a:chExt cx="2386151" cy="3293873"/>
          </a:xfrm>
        </p:grpSpPr>
        <p:pic>
          <p:nvPicPr>
            <p:cNvPr id="1379" name="Google Shape;1379;p31"/>
            <p:cNvPicPr preferRelativeResize="0"/>
            <p:nvPr/>
          </p:nvPicPr>
          <p:blipFill rotWithShape="1">
            <a:blip r:embed="rId2">
              <a:alphaModFix/>
            </a:blip>
            <a:srcRect l="16960" t="24719" r="7121" b="26177"/>
            <a:stretch/>
          </p:blipFill>
          <p:spPr>
            <a:xfrm rot="5400000">
              <a:off x="7886227" y="537590"/>
              <a:ext cx="3126400" cy="2386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80" name="Google Shape;1380;p31"/>
            <p:cNvGrpSpPr/>
            <p:nvPr/>
          </p:nvGrpSpPr>
          <p:grpSpPr>
            <a:xfrm rot="10800000">
              <a:off x="8452444" y="-7"/>
              <a:ext cx="325154" cy="1788670"/>
              <a:chOff x="8869019" y="-622132"/>
              <a:chExt cx="325154" cy="1788670"/>
            </a:xfrm>
          </p:grpSpPr>
          <p:sp>
            <p:nvSpPr>
              <p:cNvPr id="1381" name="Google Shape;1381;p31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82" name="Google Shape;1382;p31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1383" name="Google Shape;1383;p31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4" name="Google Shape;1384;p31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385" name="Google Shape;1385;p31"/>
          <p:cNvGrpSpPr/>
          <p:nvPr/>
        </p:nvGrpSpPr>
        <p:grpSpPr>
          <a:xfrm>
            <a:off x="-213525" y="171225"/>
            <a:ext cx="439200" cy="439100"/>
            <a:chOff x="1101075" y="2142375"/>
            <a:chExt cx="439200" cy="439100"/>
          </a:xfrm>
        </p:grpSpPr>
        <p:sp>
          <p:nvSpPr>
            <p:cNvPr id="1386" name="Google Shape;1386;p31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31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8" name="Google Shape;1388;p31"/>
          <p:cNvGrpSpPr/>
          <p:nvPr/>
        </p:nvGrpSpPr>
        <p:grpSpPr>
          <a:xfrm>
            <a:off x="-1262974" y="3161328"/>
            <a:ext cx="4822591" cy="2934500"/>
            <a:chOff x="-1186774" y="3161328"/>
            <a:chExt cx="4822591" cy="2934500"/>
          </a:xfrm>
        </p:grpSpPr>
        <p:pic>
          <p:nvPicPr>
            <p:cNvPr id="1389" name="Google Shape;1389;p31"/>
            <p:cNvPicPr preferRelativeResize="0"/>
            <p:nvPr/>
          </p:nvPicPr>
          <p:blipFill rotWithShape="1">
            <a:blip r:embed="rId2">
              <a:alphaModFix/>
            </a:blip>
            <a:srcRect l="16960" t="24719" r="7121" b="26177"/>
            <a:stretch/>
          </p:blipFill>
          <p:spPr>
            <a:xfrm rot="5400000">
              <a:off x="-1534175" y="3508728"/>
              <a:ext cx="2934500" cy="223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0" name="Google Shape;1390;p31"/>
            <p:cNvSpPr/>
            <p:nvPr/>
          </p:nvSpPr>
          <p:spPr>
            <a:xfrm rot="-5400000">
              <a:off x="-184180" y="3596444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91" name="Google Shape;1391;p31"/>
            <p:cNvGrpSpPr/>
            <p:nvPr/>
          </p:nvGrpSpPr>
          <p:grpSpPr>
            <a:xfrm>
              <a:off x="58899" y="4608583"/>
              <a:ext cx="604346" cy="657081"/>
              <a:chOff x="58899" y="4608583"/>
              <a:chExt cx="604346" cy="657081"/>
            </a:xfrm>
          </p:grpSpPr>
          <p:grpSp>
            <p:nvGrpSpPr>
              <p:cNvPr id="1392" name="Google Shape;1392;p31"/>
              <p:cNvGrpSpPr/>
              <p:nvPr/>
            </p:nvGrpSpPr>
            <p:grpSpPr>
              <a:xfrm rot="10800000">
                <a:off x="58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393" name="Google Shape;1393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4" name="Google Shape;1394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5" name="Google Shape;1395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6" name="Google Shape;1396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7" name="Google Shape;1397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8" name="Google Shape;1398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9" name="Google Shape;1399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00" name="Google Shape;1400;p31"/>
              <p:cNvGrpSpPr/>
              <p:nvPr/>
            </p:nvGrpSpPr>
            <p:grpSpPr>
              <a:xfrm rot="10800000">
                <a:off x="334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401" name="Google Shape;1401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2" name="Google Shape;1402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3" name="Google Shape;1403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4" name="Google Shape;1404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5" name="Google Shape;1405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6" name="Google Shape;1406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7" name="Google Shape;1407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08" name="Google Shape;1408;p31"/>
              <p:cNvGrpSpPr/>
              <p:nvPr/>
            </p:nvGrpSpPr>
            <p:grpSpPr>
              <a:xfrm rot="10800000">
                <a:off x="282574" y="4937133"/>
                <a:ext cx="328346" cy="328531"/>
                <a:chOff x="3678700" y="407275"/>
                <a:chExt cx="708100" cy="708500"/>
              </a:xfrm>
            </p:grpSpPr>
            <p:sp>
              <p:nvSpPr>
                <p:cNvPr id="1409" name="Google Shape;1409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0" name="Google Shape;1410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1" name="Google Shape;1411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2" name="Google Shape;1412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3" name="Google Shape;1413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4" name="Google Shape;1414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5" name="Google Shape;1415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416" name="Google Shape;1416;p31"/>
            <p:cNvGrpSpPr/>
            <p:nvPr/>
          </p:nvGrpSpPr>
          <p:grpSpPr>
            <a:xfrm>
              <a:off x="-923150" y="4796551"/>
              <a:ext cx="4558967" cy="134100"/>
              <a:chOff x="796100" y="3019701"/>
              <a:chExt cx="4558967" cy="134100"/>
            </a:xfrm>
          </p:grpSpPr>
          <p:sp>
            <p:nvSpPr>
              <p:cNvPr id="1417" name="Google Shape;1417;p31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418" name="Google Shape;1418;p31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19" name="Google Shape;1419;p31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657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9775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8" r:id="rId2"/>
    <p:sldLayoutId id="2147483659" r:id="rId3"/>
    <p:sldLayoutId id="2147483676" r:id="rId4"/>
    <p:sldLayoutId id="2147483677" r:id="rId5"/>
    <p:sldLayoutId id="2147483681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4226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p35"/>
          <p:cNvSpPr txBox="1">
            <a:spLocks noGrp="1"/>
          </p:cNvSpPr>
          <p:nvPr>
            <p:ph type="ctrTitle"/>
          </p:nvPr>
        </p:nvSpPr>
        <p:spPr>
          <a:xfrm>
            <a:off x="744035" y="2379810"/>
            <a:ext cx="6974700" cy="232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>
                <a:solidFill>
                  <a:schemeClr val="dk2"/>
                </a:solidFill>
              </a:rPr>
              <a:t>AI-Based Sleep Stage Classification</a:t>
            </a:r>
            <a:br>
              <a:rPr lang="en" sz="4400" dirty="0">
                <a:solidFill>
                  <a:schemeClr val="dk2"/>
                </a:solidFill>
              </a:rPr>
            </a:br>
            <a:r>
              <a:rPr lang="en" sz="3200" dirty="0">
                <a:solidFill>
                  <a:schemeClr val="dk2"/>
                </a:solidFill>
              </a:rPr>
              <a:t> </a:t>
            </a:r>
            <a:r>
              <a:rPr lang="en-US" sz="3200" dirty="0">
                <a:solidFill>
                  <a:schemeClr val="dk1"/>
                </a:solidFill>
              </a:rPr>
              <a:t>A Deep Learning Pipeline Using Single-Channel EKG</a:t>
            </a:r>
            <a:br>
              <a:rPr lang="en-US" sz="3200" dirty="0">
                <a:solidFill>
                  <a:schemeClr val="dk1"/>
                </a:solidFill>
              </a:rPr>
            </a:br>
            <a:endParaRPr sz="4400" dirty="0">
              <a:solidFill>
                <a:schemeClr val="dk1"/>
              </a:solidFill>
            </a:endParaRPr>
          </a:p>
        </p:txBody>
      </p:sp>
      <p:grpSp>
        <p:nvGrpSpPr>
          <p:cNvPr id="1432" name="Google Shape;1432;p35"/>
          <p:cNvGrpSpPr/>
          <p:nvPr/>
        </p:nvGrpSpPr>
        <p:grpSpPr>
          <a:xfrm>
            <a:off x="1096850" y="3242811"/>
            <a:ext cx="3936683" cy="134070"/>
            <a:chOff x="1096850" y="3242811"/>
            <a:chExt cx="3936683" cy="134070"/>
          </a:xfrm>
        </p:grpSpPr>
        <p:cxnSp>
          <p:nvCxnSpPr>
            <p:cNvPr id="1433" name="Google Shape;1433;p35"/>
            <p:cNvCxnSpPr/>
            <p:nvPr/>
          </p:nvCxnSpPr>
          <p:spPr>
            <a:xfrm>
              <a:off x="1096850" y="3309850"/>
              <a:ext cx="38406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34" name="Google Shape;1434;p35"/>
            <p:cNvGrpSpPr/>
            <p:nvPr/>
          </p:nvGrpSpPr>
          <p:grpSpPr>
            <a:xfrm>
              <a:off x="4899464" y="3242811"/>
              <a:ext cx="134070" cy="134070"/>
              <a:chOff x="8382514" y="1084976"/>
              <a:chExt cx="265800" cy="265800"/>
            </a:xfrm>
          </p:grpSpPr>
          <p:sp>
            <p:nvSpPr>
              <p:cNvPr id="1435" name="Google Shape;1435;p35"/>
              <p:cNvSpPr/>
              <p:nvPr/>
            </p:nvSpPr>
            <p:spPr>
              <a:xfrm>
                <a:off x="8442213" y="1144734"/>
                <a:ext cx="146400" cy="1464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35"/>
              <p:cNvSpPr/>
              <p:nvPr/>
            </p:nvSpPr>
            <p:spPr>
              <a:xfrm>
                <a:off x="8382514" y="1084976"/>
                <a:ext cx="265800" cy="2658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37" name="Google Shape;1437;p35"/>
          <p:cNvGrpSpPr/>
          <p:nvPr/>
        </p:nvGrpSpPr>
        <p:grpSpPr>
          <a:xfrm>
            <a:off x="8017432" y="-313900"/>
            <a:ext cx="134070" cy="1891362"/>
            <a:chOff x="8017432" y="-313900"/>
            <a:chExt cx="134070" cy="1891362"/>
          </a:xfrm>
        </p:grpSpPr>
        <p:sp>
          <p:nvSpPr>
            <p:cNvPr id="1438" name="Google Shape;1438;p35"/>
            <p:cNvSpPr/>
            <p:nvPr/>
          </p:nvSpPr>
          <p:spPr>
            <a:xfrm rot="5400000">
              <a:off x="8017432" y="1443393"/>
              <a:ext cx="134070" cy="13407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439" name="Google Shape;1439;p35"/>
            <p:cNvCxnSpPr/>
            <p:nvPr/>
          </p:nvCxnSpPr>
          <p:spPr>
            <a:xfrm>
              <a:off x="8084450" y="-313900"/>
              <a:ext cx="0" cy="1795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40" name="Google Shape;1440;p35"/>
            <p:cNvSpPr/>
            <p:nvPr/>
          </p:nvSpPr>
          <p:spPr>
            <a:xfrm rot="5400000">
              <a:off x="8047515" y="1473505"/>
              <a:ext cx="73844" cy="73844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1" name="Google Shape;1441;p35"/>
          <p:cNvGrpSpPr/>
          <p:nvPr/>
        </p:nvGrpSpPr>
        <p:grpSpPr>
          <a:xfrm>
            <a:off x="6309526" y="957475"/>
            <a:ext cx="3504715" cy="5119205"/>
            <a:chOff x="6309526" y="836950"/>
            <a:chExt cx="3504715" cy="5119205"/>
          </a:xfrm>
        </p:grpSpPr>
        <p:sp>
          <p:nvSpPr>
            <p:cNvPr id="1442" name="Google Shape;1442;p35"/>
            <p:cNvSpPr/>
            <p:nvPr/>
          </p:nvSpPr>
          <p:spPr>
            <a:xfrm>
              <a:off x="6309526" y="8369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43" name="Google Shape;1443;p35"/>
            <p:cNvGrpSpPr/>
            <p:nvPr/>
          </p:nvGrpSpPr>
          <p:grpSpPr>
            <a:xfrm>
              <a:off x="7728436" y="3524084"/>
              <a:ext cx="134004" cy="134004"/>
              <a:chOff x="8356813" y="1074288"/>
              <a:chExt cx="351900" cy="351900"/>
            </a:xfrm>
          </p:grpSpPr>
          <p:sp>
            <p:nvSpPr>
              <p:cNvPr id="1444" name="Google Shape;1444;p35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35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6" name="Google Shape;1446;p35"/>
            <p:cNvGrpSpPr/>
            <p:nvPr/>
          </p:nvGrpSpPr>
          <p:grpSpPr>
            <a:xfrm>
              <a:off x="7344361" y="3150259"/>
              <a:ext cx="134004" cy="134004"/>
              <a:chOff x="8356813" y="1074288"/>
              <a:chExt cx="351900" cy="351900"/>
            </a:xfrm>
          </p:grpSpPr>
          <p:sp>
            <p:nvSpPr>
              <p:cNvPr id="1447" name="Google Shape;1447;p35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35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9" name="Google Shape;1449;p35"/>
            <p:cNvGrpSpPr/>
            <p:nvPr/>
          </p:nvGrpSpPr>
          <p:grpSpPr>
            <a:xfrm>
              <a:off x="8337811" y="2464059"/>
              <a:ext cx="134004" cy="134004"/>
              <a:chOff x="8356813" y="1074288"/>
              <a:chExt cx="351900" cy="351900"/>
            </a:xfrm>
          </p:grpSpPr>
          <p:sp>
            <p:nvSpPr>
              <p:cNvPr id="1450" name="Google Shape;1450;p35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51;p35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52" name="Google Shape;1452;p35"/>
            <p:cNvSpPr/>
            <p:nvPr/>
          </p:nvSpPr>
          <p:spPr>
            <a:xfrm rot="5400000">
              <a:off x="7687039" y="1023058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p3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rPr>
              <a:t>Group members </a:t>
            </a:r>
            <a:endParaRPr sz="3200" dirty="0">
              <a:solidFill>
                <a:schemeClr val="dk2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467" name="Google Shape;1467;p37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Hassan hashim </a:t>
            </a:r>
            <a:endParaRPr dirty="0"/>
          </a:p>
        </p:txBody>
      </p:sp>
      <p:sp>
        <p:nvSpPr>
          <p:cNvPr id="1476" name="Google Shape;1476;p37"/>
          <p:cNvSpPr txBox="1">
            <a:spLocks noGrp="1"/>
          </p:cNvSpPr>
          <p:nvPr>
            <p:ph type="subTitle" idx="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</a:t>
            </a:r>
            <a:r>
              <a:rPr lang="en" dirty="0"/>
              <a:t>bdelrahman essam </a:t>
            </a:r>
            <a:endParaRPr dirty="0"/>
          </a:p>
        </p:txBody>
      </p:sp>
      <p:sp>
        <p:nvSpPr>
          <p:cNvPr id="1477" name="Google Shape;1477;p37"/>
          <p:cNvSpPr txBox="1">
            <a:spLocks noGrp="1"/>
          </p:cNvSpPr>
          <p:nvPr>
            <p:ph type="subTitle" idx="3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Basil hassan </a:t>
            </a:r>
            <a:endParaRPr dirty="0"/>
          </a:p>
        </p:txBody>
      </p:sp>
      <p:sp>
        <p:nvSpPr>
          <p:cNvPr id="1472" name="Google Shape;1472;p37"/>
          <p:cNvSpPr txBox="1">
            <a:spLocks noGrp="1"/>
          </p:cNvSpPr>
          <p:nvPr>
            <p:ph type="title" idx="5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1473" name="Google Shape;1473;p37"/>
          <p:cNvSpPr txBox="1">
            <a:spLocks noGrp="1"/>
          </p:cNvSpPr>
          <p:nvPr>
            <p:ph type="title" idx="6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474" name="Google Shape;1474;p37"/>
          <p:cNvSpPr txBox="1">
            <a:spLocks noGrp="1"/>
          </p:cNvSpPr>
          <p:nvPr>
            <p:ph type="title" idx="7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</p:spTree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5">
          <a:extLst>
            <a:ext uri="{FF2B5EF4-FFF2-40B4-BE49-F238E27FC236}">
              <a16:creationId xmlns:a16="http://schemas.microsoft.com/office/drawing/2014/main" id="{5966DD3E-7623-D7AA-E2EB-14FDBD627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p37">
            <a:extLst>
              <a:ext uri="{FF2B5EF4-FFF2-40B4-BE49-F238E27FC236}">
                <a16:creationId xmlns:a16="http://schemas.microsoft.com/office/drawing/2014/main" id="{A62C9ABB-CDFA-9D36-D538-9806F77742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" sz="3200" dirty="0">
                <a:solidFill>
                  <a:srgbClr val="0C0A9E"/>
                </a:solidFill>
              </a:rPr>
              <a:t>Project</a:t>
            </a:r>
            <a:r>
              <a:rPr lang="en" sz="3200" dirty="0"/>
              <a:t> Idea </a:t>
            </a:r>
            <a:endParaRPr sz="3200" dirty="0"/>
          </a:p>
        </p:txBody>
      </p:sp>
      <p:sp>
        <p:nvSpPr>
          <p:cNvPr id="1468" name="Google Shape;1468;p37">
            <a:extLst>
              <a:ext uri="{FF2B5EF4-FFF2-40B4-BE49-F238E27FC236}">
                <a16:creationId xmlns:a16="http://schemas.microsoft.com/office/drawing/2014/main" id="{1E464F2B-9EF9-5213-CD7B-D3DAB14F191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47002" y="1954605"/>
            <a:ext cx="2933997" cy="6929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1800" b="1" dirty="0"/>
              <a:t>Goal: Build an AI model that classifies sleep stages using physiological signals</a:t>
            </a:r>
            <a:endParaRPr sz="1800" b="1" dirty="0"/>
          </a:p>
        </p:txBody>
      </p:sp>
      <p:sp>
        <p:nvSpPr>
          <p:cNvPr id="1469" name="Google Shape;1469;p37">
            <a:extLst>
              <a:ext uri="{FF2B5EF4-FFF2-40B4-BE49-F238E27FC236}">
                <a16:creationId xmlns:a16="http://schemas.microsoft.com/office/drawing/2014/main" id="{85D580EE-7185-5E09-F4E9-77AB09D6B5E6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953700" y="1954605"/>
            <a:ext cx="3074000" cy="8943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800" b="1" dirty="0"/>
              <a:t>The AI model will learn patterns in sleep signals to identify sleep stages automatically.</a:t>
            </a:r>
          </a:p>
        </p:txBody>
      </p:sp>
      <p:sp>
        <p:nvSpPr>
          <p:cNvPr id="1472" name="Google Shape;1472;p37">
            <a:extLst>
              <a:ext uri="{FF2B5EF4-FFF2-40B4-BE49-F238E27FC236}">
                <a16:creationId xmlns:a16="http://schemas.microsoft.com/office/drawing/2014/main" id="{F550B147-E341-78BC-B71E-4B1D0C9D8305}"/>
              </a:ext>
            </a:extLst>
          </p:cNvPr>
          <p:cNvSpPr txBox="1">
            <a:spLocks noGrp="1"/>
          </p:cNvSpPr>
          <p:nvPr>
            <p:ph type="title" idx="5"/>
          </p:nvPr>
        </p:nvSpPr>
        <p:spPr>
          <a:xfrm>
            <a:off x="720003" y="1344775"/>
            <a:ext cx="1057500" cy="64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474" name="Google Shape;1474;p37">
            <a:extLst>
              <a:ext uri="{FF2B5EF4-FFF2-40B4-BE49-F238E27FC236}">
                <a16:creationId xmlns:a16="http://schemas.microsoft.com/office/drawing/2014/main" id="{EC45F1B2-D752-504F-AFCF-6EDD37A7656F}"/>
              </a:ext>
            </a:extLst>
          </p:cNvPr>
          <p:cNvSpPr txBox="1">
            <a:spLocks noGrp="1"/>
          </p:cNvSpPr>
          <p:nvPr>
            <p:ph type="title" idx="7"/>
          </p:nvPr>
        </p:nvSpPr>
        <p:spPr>
          <a:xfrm>
            <a:off x="4366698" y="1344775"/>
            <a:ext cx="1057500" cy="64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95231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C0A9E"/>
                </a:solidFill>
                <a:latin typeface="IBM Plex Mono" panose="020B0509050203000203" pitchFamily="49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200" dirty="0">
              <a:solidFill>
                <a:srgbClr val="0C0A9E"/>
              </a:solidFill>
              <a:latin typeface="IBM Plex Mono" panose="020B0509050203000203" pitchFamily="49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28600" y="908424"/>
            <a:ext cx="4023360" cy="3474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051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this?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classify 5 sleep stages from a single ECG (EKG) channel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30-second epochs from overnight sleep recordings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2514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Stages: Wake, N1, N2, N3 (Deep Sleep), REM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the MESA polysomnography dataset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520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pipeline: raw EDF files → trained model → evaluation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26280" y="908424"/>
            <a:ext cx="4023360" cy="3474720"/>
          </a:xfrm>
          <a:prstGeom prst="rect">
            <a:avLst/>
          </a:prstGeom>
          <a:solidFill>
            <a:srgbClr val="1E3A3A"/>
          </a:solidFill>
          <a:ln w="12700">
            <a:solidFill>
              <a:srgbClr val="0A93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051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46320" y="1508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E9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sleep scoring is expensive &amp; time-consuming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846320" y="205889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E9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Autonomic nervous system signatures differ across stages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46320" y="259946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E9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large-scale, affordable sleep health monitoring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92040" y="305666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E9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Cohen's Kappa validates agreement with expert annotations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6773F-815C-E264-14AE-76D5FF2E2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0">
            <a:extLst>
              <a:ext uri="{FF2B5EF4-FFF2-40B4-BE49-F238E27FC236}">
                <a16:creationId xmlns:a16="http://schemas.microsoft.com/office/drawing/2014/main" id="{13E0AE5F-4736-B097-CD5A-C3439BB1B843}"/>
              </a:ext>
            </a:extLst>
          </p:cNvPr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C0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200" dirty="0">
              <a:solidFill>
                <a:srgbClr val="0C0A9E"/>
              </a:solidFill>
            </a:endParaRPr>
          </a:p>
        </p:txBody>
      </p:sp>
      <p:sp>
        <p:nvSpPr>
          <p:cNvPr id="20" name="Shape 2">
            <a:extLst>
              <a:ext uri="{FF2B5EF4-FFF2-40B4-BE49-F238E27FC236}">
                <a16:creationId xmlns:a16="http://schemas.microsoft.com/office/drawing/2014/main" id="{C4C4EA4C-30E7-DB17-2E2E-D66D5B9A6693}"/>
              </a:ext>
            </a:extLst>
          </p:cNvPr>
          <p:cNvSpPr/>
          <p:nvPr/>
        </p:nvSpPr>
        <p:spPr>
          <a:xfrm>
            <a:off x="177113" y="1382417"/>
            <a:ext cx="5212080" cy="1645920"/>
          </a:xfrm>
          <a:prstGeom prst="rect">
            <a:avLst/>
          </a:prstGeom>
          <a:solidFill>
            <a:srgbClr val="0D1B2A">
              <a:alpha val="95000"/>
            </a:srgbClr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F514A1F0-099F-37A9-1757-AC0249B2FCB7}"/>
              </a:ext>
            </a:extLst>
          </p:cNvPr>
          <p:cNvSpPr/>
          <p:nvPr/>
        </p:nvSpPr>
        <p:spPr>
          <a:xfrm>
            <a:off x="268553" y="1848761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disorders affect billions worldwide. Traditional PSG (polysomnography) requires full EEG + EOG + EMG setups in clinical labs — expensive, uncomfortable, and inaccessible.
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Can a SINGLE ECG channel classify sleep stages accurately using deep learning?</a:t>
            </a:r>
            <a:endParaRPr lang="en-US" sz="1150" dirty="0"/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A7D3B95C-88CB-A13B-82CD-8CC0EB5F0B25}"/>
              </a:ext>
            </a:extLst>
          </p:cNvPr>
          <p:cNvSpPr/>
          <p:nvPr/>
        </p:nvSpPr>
        <p:spPr>
          <a:xfrm>
            <a:off x="268553" y="1432709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23" name="Shape 5">
            <a:extLst>
              <a:ext uri="{FF2B5EF4-FFF2-40B4-BE49-F238E27FC236}">
                <a16:creationId xmlns:a16="http://schemas.microsoft.com/office/drawing/2014/main" id="{DE6CD0E2-AD79-8268-A3F5-3337D1D97859}"/>
              </a:ext>
            </a:extLst>
          </p:cNvPr>
          <p:cNvSpPr/>
          <p:nvPr/>
        </p:nvSpPr>
        <p:spPr>
          <a:xfrm>
            <a:off x="5724144" y="1382417"/>
            <a:ext cx="3063240" cy="16459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B4C49A3B-9DA6-8D38-DD1B-9C1584ED77BA}"/>
              </a:ext>
            </a:extLst>
          </p:cNvPr>
          <p:cNvSpPr/>
          <p:nvPr/>
        </p:nvSpPr>
        <p:spPr>
          <a:xfrm>
            <a:off x="5949367" y="1432709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ECG Only?</a:t>
            </a:r>
            <a:endParaRPr lang="en-US" sz="1400" dirty="0"/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7F5B32A2-FEEA-F759-96A6-9D020D3721B9}"/>
              </a:ext>
            </a:extLst>
          </p:cNvPr>
          <p:cNvSpPr/>
          <p:nvPr/>
        </p:nvSpPr>
        <p:spPr>
          <a:xfrm>
            <a:off x="5838444" y="1798469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Wearable-friendly</a:t>
            </a:r>
            <a:endParaRPr lang="en-US" sz="1100" dirty="0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5207F2D0-64CF-9CC7-24F5-DE93BC7BDD5F}"/>
              </a:ext>
            </a:extLst>
          </p:cNvPr>
          <p:cNvSpPr/>
          <p:nvPr/>
        </p:nvSpPr>
        <p:spPr>
          <a:xfrm>
            <a:off x="5838444" y="2049316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Non-invasive &amp; cheap</a:t>
            </a:r>
            <a:endParaRPr lang="en-US" sz="1100" dirty="0"/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C6BAC9A0-91D6-69F6-3D21-1073943DF894}"/>
              </a:ext>
            </a:extLst>
          </p:cNvPr>
          <p:cNvSpPr/>
          <p:nvPr/>
        </p:nvSpPr>
        <p:spPr>
          <a:xfrm>
            <a:off x="5838444" y="231571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Captures ANS rhythms</a:t>
            </a:r>
            <a:endParaRPr lang="en-US" sz="1100" dirty="0"/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08E7FD96-FE42-96DB-18B2-DFB68B851789}"/>
              </a:ext>
            </a:extLst>
          </p:cNvPr>
          <p:cNvSpPr/>
          <p:nvPr/>
        </p:nvSpPr>
        <p:spPr>
          <a:xfrm>
            <a:off x="5838444" y="2598569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Home monitoring ready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385685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Mono" panose="020B0509050203000203" pitchFamily="49" charset="0"/>
                <a:ea typeface="Calibri" pitchFamily="34" charset="-122"/>
                <a:cs typeface="Calibri" pitchFamily="34" charset="-120"/>
              </a:rPr>
              <a:t>Data Pipeline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Mono" panose="020B0509050203000203" pitchFamily="49" charset="0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From raw EDF recordings to clean, labeled training tensors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56032" y="1234440"/>
            <a:ext cx="1508760" cy="3063240"/>
          </a:xfrm>
          <a:prstGeom prst="rect">
            <a:avLst/>
          </a:prstGeom>
          <a:solidFill>
            <a:srgbClr val="1E3A3A"/>
          </a:solidFill>
          <a:ln w="15240">
            <a:solidFill>
              <a:srgbClr val="0A9396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1812" y="1143000"/>
            <a:ext cx="457200" cy="45720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1812" y="1133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29184" y="16916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Load EDF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9184" y="2377440"/>
            <a:ext cx="1371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9F5F5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MNE reads raw signals recordings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9F5F5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Exact 'EKG' channel selected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764792" y="2743200"/>
            <a:ext cx="228600" cy="0"/>
          </a:xfrm>
          <a:prstGeom prst="line">
            <a:avLst/>
          </a:prstGeom>
          <a:noFill/>
          <a:ln w="25400">
            <a:solidFill>
              <a:srgbClr val="0A939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93392" y="1234440"/>
            <a:ext cx="1508760" cy="3063240"/>
          </a:xfrm>
          <a:prstGeom prst="rect">
            <a:avLst/>
          </a:prstGeom>
          <a:solidFill>
            <a:srgbClr val="1E3A3A"/>
          </a:solidFill>
          <a:ln w="15240">
            <a:solidFill>
              <a:srgbClr val="0A9396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19172" y="1143000"/>
            <a:ext cx="457200" cy="45720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9172" y="1133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066544" y="16916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Resample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&amp; Filter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066544" y="2377440"/>
            <a:ext cx="1371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9F5F5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Downsample to 100 Hz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9F5F5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0.5–40 Hz bandpass (Butterworth)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502152" y="2743200"/>
            <a:ext cx="228600" cy="0"/>
          </a:xfrm>
          <a:prstGeom prst="line">
            <a:avLst/>
          </a:prstGeom>
          <a:noFill/>
          <a:ln w="25400">
            <a:solidFill>
              <a:srgbClr val="0A939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30752" y="1234440"/>
            <a:ext cx="1508760" cy="3063240"/>
          </a:xfrm>
          <a:prstGeom prst="rect">
            <a:avLst/>
          </a:prstGeom>
          <a:solidFill>
            <a:srgbClr val="1E3A3A"/>
          </a:solidFill>
          <a:ln w="15240">
            <a:solidFill>
              <a:srgbClr val="0A9396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56532" y="1143000"/>
            <a:ext cx="457200" cy="45720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56532" y="1133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803904" y="16916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Parse XML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Annotations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803904" y="2377440"/>
            <a:ext cx="1371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9F5F5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Sleep stage labels extracted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9F5F5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Mapped to 5 classes (0–4)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239512" y="2743200"/>
            <a:ext cx="228600" cy="0"/>
          </a:xfrm>
          <a:prstGeom prst="line">
            <a:avLst/>
          </a:prstGeom>
          <a:noFill/>
          <a:ln w="25400">
            <a:solidFill>
              <a:srgbClr val="0A939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68112" y="1234440"/>
            <a:ext cx="1508760" cy="3063240"/>
          </a:xfrm>
          <a:prstGeom prst="rect">
            <a:avLst/>
          </a:prstGeom>
          <a:solidFill>
            <a:srgbClr val="1E3A3A"/>
          </a:solidFill>
          <a:ln w="15240">
            <a:solidFill>
              <a:srgbClr val="0A9396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5993892" y="1143000"/>
            <a:ext cx="457200" cy="45720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93892" y="1133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541264" y="16916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Epoch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Slicing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541264" y="2377440"/>
            <a:ext cx="1371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9F5F5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Cut into 30s windows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9F5F5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= 3,000 samples per epoch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976872" y="2743200"/>
            <a:ext cx="228600" cy="0"/>
          </a:xfrm>
          <a:prstGeom prst="line">
            <a:avLst/>
          </a:prstGeom>
          <a:noFill/>
          <a:ln w="25400">
            <a:solidFill>
              <a:srgbClr val="0A939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05472" y="1234440"/>
            <a:ext cx="1508760" cy="3063240"/>
          </a:xfrm>
          <a:prstGeom prst="rect">
            <a:avLst/>
          </a:prstGeom>
          <a:solidFill>
            <a:srgbClr val="1E3A3A"/>
          </a:solidFill>
          <a:ln w="15240">
            <a:solidFill>
              <a:srgbClr val="0A9396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731252" y="1143000"/>
            <a:ext cx="457200" cy="45720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31252" y="1133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278624" y="16916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278624" y="2377440"/>
            <a:ext cx="1371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9F5F5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Z-score per epoch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9F5F5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mean subtracted, std divided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Output shape per subject:  X = (n_epochs, 1, 3000)   y = (n_epochs,)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8411" y="0"/>
            <a:ext cx="9144000" cy="685800"/>
          </a:xfrm>
          <a:prstGeom prst="rect">
            <a:avLst/>
          </a:prstGeom>
          <a:solidFill>
            <a:srgbClr val="1A2942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IBM Plex Mono" panose="020B0509050203000203" pitchFamily="49" charset="0"/>
                <a:ea typeface="Calibri" pitchFamily="34" charset="-122"/>
                <a:cs typeface="Calibri" pitchFamily="34" charset="-120"/>
              </a:rPr>
              <a:t>Sleep Stage Annotation &amp; Label Parsing (Cell 4)</a:t>
            </a:r>
            <a:endParaRPr lang="en-US" sz="2200" dirty="0">
              <a:latin typeface="IBM Plex Mono" panose="020B0509050203000203" pitchFamily="49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8205" y="1767242"/>
            <a:ext cx="1554480" cy="502920"/>
          </a:xfrm>
          <a:prstGeom prst="rect">
            <a:avLst/>
          </a:prstGeom>
          <a:solidFill>
            <a:srgbClr val="5E60CE"/>
          </a:solidFill>
          <a:ln w="12700">
            <a:solidFill>
              <a:srgbClr val="5E60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8205" y="1767242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— Wake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8205" y="2270162"/>
            <a:ext cx="1554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5E60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1357" y="233417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E6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51357" y="2617634"/>
            <a:ext cx="1417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consciousness, eyes open/closed. 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97277" y="1767242"/>
            <a:ext cx="1554480" cy="502920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97277" y="1767242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N1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997277" y="2270162"/>
            <a:ext cx="1554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070429" y="233417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r>
              <a:rPr lang="en-US" sz="10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70429" y="2617634"/>
            <a:ext cx="1417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sleep onset. 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716349" y="1767242"/>
            <a:ext cx="1554480" cy="5029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16349" y="1767242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N2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16349" y="2270162"/>
            <a:ext cx="1554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89501" y="233417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89501" y="2617634"/>
            <a:ext cx="1417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sleep. 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35421" y="1767242"/>
            <a:ext cx="1554480" cy="50292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35421" y="1767242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N3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35421" y="2270162"/>
            <a:ext cx="1554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08573" y="233417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3/4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08573" y="2617634"/>
            <a:ext cx="1417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Deep/slow wave sleep. 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154493" y="1767242"/>
            <a:ext cx="1554480" cy="502920"/>
          </a:xfrm>
          <a:prstGeom prst="rect">
            <a:avLst/>
          </a:prstGeom>
          <a:solidFill>
            <a:srgbClr val="AE2012"/>
          </a:solidFill>
          <a:ln w="12700">
            <a:solidFill>
              <a:srgbClr val="AE201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54493" y="1767242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— REM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154493" y="2270162"/>
            <a:ext cx="1554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AE201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27645" y="233417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E2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27645" y="2617634"/>
            <a:ext cx="1417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Eye Movement..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IBM Plex Mono" panose="020B0509050203000203" pitchFamily="49" charset="0"/>
                <a:ea typeface="Calibri" pitchFamily="34" charset="-122"/>
                <a:cs typeface="Calibri" pitchFamily="34" charset="-120"/>
              </a:rPr>
              <a:t>Class Imbalance &amp; Augmentation Strategy</a:t>
            </a:r>
            <a:endParaRPr lang="en-US" sz="2800" dirty="0">
              <a:latin typeface="IBM Plex Mono" panose="020B0509050203000203" pitchFamily="49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4846320" y="896112"/>
            <a:ext cx="3931920" cy="3200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502920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Fix the Imbalance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6" name="Shape 3"/>
          <p:cNvSpPr/>
          <p:nvPr/>
        </p:nvSpPr>
        <p:spPr>
          <a:xfrm>
            <a:off x="5029200" y="1508760"/>
            <a:ext cx="36576" cy="34747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166360" y="1508760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Noise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166360" y="1709928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9F5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Add small random noise (σ=0.05)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029200" y="2002536"/>
            <a:ext cx="36576" cy="34747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166360" y="2002536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 Scale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166360" y="2203704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9F5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Random ×0.8–1.2 scaling — simulates sensor variability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029200" y="2496312"/>
            <a:ext cx="36576" cy="34747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166360" y="2496312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Wander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166360" y="269748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9F5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Sinusoidal drift (0.05–0.3 Hz) added to signal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029200" y="2990088"/>
            <a:ext cx="36576" cy="34747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166360" y="299008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Shift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166360" y="3191256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9F5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Circular roll ±150 samples — positional invariance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029200" y="3483864"/>
            <a:ext cx="36576" cy="34747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66360" y="3483864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Mixup (N1 only)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166360" y="368503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9F5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Blend two N1 epochs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365760" y="42976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Target: N1, N3, REM oversampled to 70% of majority class count</a:t>
            </a:r>
            <a:endParaRPr lang="en-US" sz="105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02AEE5C-E38C-FD56-498F-7F5076AFCA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865" y="1003361"/>
            <a:ext cx="3957498" cy="297675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F6C61-F38E-D290-D61B-079B5494E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53251FA-9938-F65F-0D77-EE3653A2C701}"/>
              </a:ext>
            </a:extLst>
          </p:cNvPr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IBM Plex Mono" panose="020B0509050203000203" pitchFamily="49" charset="0"/>
                <a:ea typeface="Calibri" pitchFamily="34" charset="-122"/>
                <a:cs typeface="Calibri" pitchFamily="34" charset="-120"/>
              </a:rPr>
              <a:t>Class Imbalance &amp; Augmentation Strategy</a:t>
            </a:r>
            <a:endParaRPr lang="en-US" sz="2800" dirty="0">
              <a:latin typeface="IBM Plex Mono" panose="020B0509050203000203" pitchFamily="49" charset="0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309973FB-FED7-ECEF-0F80-B7B338E0D29B}"/>
              </a:ext>
            </a:extLst>
          </p:cNvPr>
          <p:cNvSpPr/>
          <p:nvPr/>
        </p:nvSpPr>
        <p:spPr>
          <a:xfrm>
            <a:off x="4846320" y="896112"/>
            <a:ext cx="3931920" cy="3200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7A1883FB-BB4D-D541-B2C9-79F093C6A2AC}"/>
              </a:ext>
            </a:extLst>
          </p:cNvPr>
          <p:cNvSpPr/>
          <p:nvPr/>
        </p:nvSpPr>
        <p:spPr>
          <a:xfrm>
            <a:off x="502920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Fix the Imbalance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22E0D7E8-874B-5B0E-1651-812B70C8732C}"/>
              </a:ext>
            </a:extLst>
          </p:cNvPr>
          <p:cNvSpPr/>
          <p:nvPr/>
        </p:nvSpPr>
        <p:spPr>
          <a:xfrm>
            <a:off x="5029200" y="1508760"/>
            <a:ext cx="36576" cy="34747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F7201168-8C60-96D9-3F77-DBB3B3905FAC}"/>
              </a:ext>
            </a:extLst>
          </p:cNvPr>
          <p:cNvSpPr/>
          <p:nvPr/>
        </p:nvSpPr>
        <p:spPr>
          <a:xfrm>
            <a:off x="5166360" y="1508760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Noise</a:t>
            </a:r>
            <a:endParaRPr lang="en-US" sz="11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54A5BE92-94FC-6A3D-F9E7-64877D2CCC80}"/>
              </a:ext>
            </a:extLst>
          </p:cNvPr>
          <p:cNvSpPr/>
          <p:nvPr/>
        </p:nvSpPr>
        <p:spPr>
          <a:xfrm>
            <a:off x="5166360" y="1709928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9F5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Add small random noise (σ=0.05)</a:t>
            </a:r>
            <a:endParaRPr lang="en-US" sz="95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1B421747-90D8-150D-BBAC-1E314B45BA04}"/>
              </a:ext>
            </a:extLst>
          </p:cNvPr>
          <p:cNvSpPr/>
          <p:nvPr/>
        </p:nvSpPr>
        <p:spPr>
          <a:xfrm>
            <a:off x="5029200" y="2002536"/>
            <a:ext cx="36576" cy="34747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522FDF93-9D4B-63F1-AAA6-E7DA46810B4A}"/>
              </a:ext>
            </a:extLst>
          </p:cNvPr>
          <p:cNvSpPr/>
          <p:nvPr/>
        </p:nvSpPr>
        <p:spPr>
          <a:xfrm>
            <a:off x="5166360" y="2002536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 Scale</a:t>
            </a:r>
            <a:endParaRPr lang="en-US" sz="11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984B811B-0F5E-FE98-B363-AE0B8BC07C01}"/>
              </a:ext>
            </a:extLst>
          </p:cNvPr>
          <p:cNvSpPr/>
          <p:nvPr/>
        </p:nvSpPr>
        <p:spPr>
          <a:xfrm>
            <a:off x="5166360" y="2203704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9F5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Random ×0.8–1.2 scaling — simulates sensor variability</a:t>
            </a:r>
            <a:endParaRPr lang="en-US" sz="95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3D72B83E-E3C3-AD41-FA98-F8020C5E146A}"/>
              </a:ext>
            </a:extLst>
          </p:cNvPr>
          <p:cNvSpPr/>
          <p:nvPr/>
        </p:nvSpPr>
        <p:spPr>
          <a:xfrm>
            <a:off x="5029200" y="2496312"/>
            <a:ext cx="36576" cy="34747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4032DBDE-2699-46DB-9244-2AE06C2BC21C}"/>
              </a:ext>
            </a:extLst>
          </p:cNvPr>
          <p:cNvSpPr/>
          <p:nvPr/>
        </p:nvSpPr>
        <p:spPr>
          <a:xfrm>
            <a:off x="5166360" y="2496312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Wander</a:t>
            </a:r>
            <a:endParaRPr lang="en-US" sz="11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9DA77F60-7220-EC5C-A795-F17655997424}"/>
              </a:ext>
            </a:extLst>
          </p:cNvPr>
          <p:cNvSpPr/>
          <p:nvPr/>
        </p:nvSpPr>
        <p:spPr>
          <a:xfrm>
            <a:off x="5166360" y="269748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9F5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Sinusoidal drift (0.05–0.3 Hz) added to signal</a:t>
            </a:r>
            <a:endParaRPr lang="en-US" sz="950" dirty="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76683EC0-F9CB-DEFF-5E4A-97315C758AD2}"/>
              </a:ext>
            </a:extLst>
          </p:cNvPr>
          <p:cNvSpPr/>
          <p:nvPr/>
        </p:nvSpPr>
        <p:spPr>
          <a:xfrm>
            <a:off x="5029200" y="2990088"/>
            <a:ext cx="36576" cy="34747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0DF5F226-51C7-1C5C-40C3-8FAE11F37541}"/>
              </a:ext>
            </a:extLst>
          </p:cNvPr>
          <p:cNvSpPr/>
          <p:nvPr/>
        </p:nvSpPr>
        <p:spPr>
          <a:xfrm>
            <a:off x="5166360" y="299008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Shift</a:t>
            </a:r>
            <a:endParaRPr lang="en-US" sz="110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FB5B9CE9-E554-6180-16E8-409D2451C01C}"/>
              </a:ext>
            </a:extLst>
          </p:cNvPr>
          <p:cNvSpPr/>
          <p:nvPr/>
        </p:nvSpPr>
        <p:spPr>
          <a:xfrm>
            <a:off x="5166360" y="3191256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9F5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Circular roll ±150 samples — positional invariance</a:t>
            </a:r>
            <a:endParaRPr lang="en-US" sz="950" dirty="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47AADB3F-129F-23CD-BA7C-555F734C4A97}"/>
              </a:ext>
            </a:extLst>
          </p:cNvPr>
          <p:cNvSpPr/>
          <p:nvPr/>
        </p:nvSpPr>
        <p:spPr>
          <a:xfrm>
            <a:off x="5029200" y="3483864"/>
            <a:ext cx="36576" cy="34747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C9849D01-3FC4-8FF2-58AA-9953BA8BBBB4}"/>
              </a:ext>
            </a:extLst>
          </p:cNvPr>
          <p:cNvSpPr/>
          <p:nvPr/>
        </p:nvSpPr>
        <p:spPr>
          <a:xfrm>
            <a:off x="5166360" y="3483864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Mixup (N1 only)</a:t>
            </a:r>
            <a:endParaRPr lang="en-US" sz="11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311DDF0D-147E-D586-3576-1363A55AA86A}"/>
              </a:ext>
            </a:extLst>
          </p:cNvPr>
          <p:cNvSpPr/>
          <p:nvPr/>
        </p:nvSpPr>
        <p:spPr>
          <a:xfrm>
            <a:off x="5166360" y="368503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9F5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Blend two N1 epochs</a:t>
            </a:r>
            <a:endParaRPr lang="en-US" sz="95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1F861BBF-C38E-6338-4E01-DAC56D08DE40}"/>
              </a:ext>
            </a:extLst>
          </p:cNvPr>
          <p:cNvSpPr/>
          <p:nvPr/>
        </p:nvSpPr>
        <p:spPr>
          <a:xfrm>
            <a:off x="365760" y="42976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Target: N1, N3, REM oversampled to 70% of majority class count</a:t>
            </a:r>
            <a:endParaRPr lang="en-US" sz="10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7C6CCC8-67ED-8FD4-DC81-A25EC0A438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383"/>
          <a:stretch>
            <a:fillRect/>
          </a:stretch>
        </p:blipFill>
        <p:spPr>
          <a:xfrm>
            <a:off x="628696" y="1343787"/>
            <a:ext cx="3095532" cy="230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7450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A0D7C-FB8A-FD90-03D5-BB78892F8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950B1E6-E1CD-319B-27FB-BA9500D8F8C4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3727C2E-040D-C76D-A6B8-3FD9B75C4B9A}"/>
              </a:ext>
            </a:extLst>
          </p:cNvPr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IBM Plex Mono" panose="020B0509050203000203" pitchFamily="49" charset="0"/>
                <a:ea typeface="Calibri" pitchFamily="34" charset="-122"/>
                <a:cs typeface="Calibri" pitchFamily="34" charset="-120"/>
              </a:rPr>
              <a:t>Loss Function &amp; Class Weights (Cell 9)</a:t>
            </a:r>
            <a:endParaRPr lang="en-US" sz="2200" dirty="0">
              <a:latin typeface="IBM Plex Mono" panose="020B0509050203000203" pitchFamily="49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D412F7E-7803-C445-03FD-11DA817A357C}"/>
              </a:ext>
            </a:extLst>
          </p:cNvPr>
          <p:cNvSpPr/>
          <p:nvPr/>
        </p:nvSpPr>
        <p:spPr>
          <a:xfrm>
            <a:off x="320040" y="1480372"/>
            <a:ext cx="41148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4B31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17D7FED-CE84-EB2C-D835-9694F9063AD1}"/>
              </a:ext>
            </a:extLst>
          </p:cNvPr>
          <p:cNvSpPr/>
          <p:nvPr/>
        </p:nvSpPr>
        <p:spPr>
          <a:xfrm>
            <a:off x="320040" y="1480372"/>
            <a:ext cx="4114800" cy="384048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390DC55-B1A4-2432-A0EC-6EF849A14FB4}"/>
              </a:ext>
            </a:extLst>
          </p:cNvPr>
          <p:cNvSpPr/>
          <p:nvPr/>
        </p:nvSpPr>
        <p:spPr>
          <a:xfrm>
            <a:off x="320040" y="148037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Loss</a:t>
            </a:r>
            <a:endParaRPr lang="en-US" sz="1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1AED2AB-FE7C-33C7-5C75-FE5BDC9C3517}"/>
              </a:ext>
            </a:extLst>
          </p:cNvPr>
          <p:cNvSpPr/>
          <p:nvPr/>
        </p:nvSpPr>
        <p:spPr>
          <a:xfrm>
            <a:off x="457200" y="19558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</a:t>
            </a:r>
            <a:endParaRPr lang="en-US" sz="11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CD865AB-CAC1-9433-C084-E0219D2ED66A}"/>
              </a:ext>
            </a:extLst>
          </p:cNvPr>
          <p:cNvSpPr/>
          <p:nvPr/>
        </p:nvSpPr>
        <p:spPr>
          <a:xfrm>
            <a:off x="457200" y="221189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4B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 = −(1 − pt)^γ · log(pt)</a:t>
            </a:r>
            <a:endParaRPr lang="en-US" sz="14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7CB065D-75AB-32DE-361B-E230B074DDA7}"/>
              </a:ext>
            </a:extLst>
          </p:cNvPr>
          <p:cNvSpPr/>
          <p:nvPr/>
        </p:nvSpPr>
        <p:spPr>
          <a:xfrm>
            <a:off x="457200" y="2577652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</a:t>
            </a:r>
            <a:r>
              <a:rPr lang="en-US" sz="105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probability of correct class (from softmax)
</a:t>
            </a:r>
            <a:r>
              <a:rPr lang="en-US" sz="1050" b="1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 = 2.5</a:t>
            </a:r>
            <a:r>
              <a:rPr lang="en-US" sz="105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focusing parameter (raised from 2.0)
</a:t>
            </a:r>
            <a:r>
              <a:rPr lang="en-US" sz="1050" b="1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Effect:</a:t>
            </a:r>
            <a:r>
              <a:rPr lang="en-US" sz="105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Easy examples (high pt) → low weight; hard misclassified examples → high weight
</a:t>
            </a:r>
            <a:r>
              <a:rPr lang="en-US" sz="1050" b="1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</a:t>
            </a:r>
            <a:r>
              <a:rPr lang="en-US" sz="105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N1 and REM are hard to classify → focal loss focuses training on them</a:t>
            </a:r>
            <a:endParaRPr lang="en-US" sz="105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19555A8-84C4-BD11-FDC3-202A61718491}"/>
              </a:ext>
            </a:extLst>
          </p:cNvPr>
          <p:cNvSpPr/>
          <p:nvPr/>
        </p:nvSpPr>
        <p:spPr>
          <a:xfrm>
            <a:off x="4756972" y="1549341"/>
            <a:ext cx="4114800" cy="2606039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BCBD8512-A28D-612D-9361-BCC684F64801}"/>
              </a:ext>
            </a:extLst>
          </p:cNvPr>
          <p:cNvSpPr/>
          <p:nvPr/>
        </p:nvSpPr>
        <p:spPr>
          <a:xfrm>
            <a:off x="4756972" y="1480372"/>
            <a:ext cx="4114800" cy="8107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D76BCE6-0601-9524-3D85-545DDDC65451}"/>
              </a:ext>
            </a:extLst>
          </p:cNvPr>
          <p:cNvSpPr/>
          <p:nvPr/>
        </p:nvSpPr>
        <p:spPr>
          <a:xfrm>
            <a:off x="4756972" y="1480372"/>
            <a:ext cx="4114800" cy="810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Loss Formula</a:t>
            </a:r>
            <a:endParaRPr lang="en-US" sz="1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B7A30BF-5BDA-D0C5-8E91-F4578887E218}"/>
              </a:ext>
            </a:extLst>
          </p:cNvPr>
          <p:cNvSpPr/>
          <p:nvPr/>
        </p:nvSpPr>
        <p:spPr>
          <a:xfrm>
            <a:off x="4709162" y="2526419"/>
            <a:ext cx="3931920" cy="9651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 = 0.7 × Focal + 0.3 × CrossEntropy(label_smooth=0.1)</a:t>
            </a:r>
            <a:endParaRPr lang="en-US" sz="11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91CD27F-06B4-66AE-6D95-8CDF60107268}"/>
              </a:ext>
            </a:extLst>
          </p:cNvPr>
          <p:cNvSpPr/>
          <p:nvPr/>
        </p:nvSpPr>
        <p:spPr>
          <a:xfrm>
            <a:off x="4846320" y="3252543"/>
            <a:ext cx="3931920" cy="540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smoothing (0.1) prevents overconfidence on training data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5882211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 &amp; Class Weights (Cell 9)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4114800" cy="384048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2296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Loss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4B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 = −(1 − pt)^γ · log(pt)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</a:t>
            </a:r>
            <a:r>
              <a:rPr lang="en-US" sz="105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probability of correct class (from softmax)
</a:t>
            </a:r>
            <a:r>
              <a:rPr lang="en-US" sz="1050" b="1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 = 2.5</a:t>
            </a:r>
            <a:r>
              <a:rPr lang="en-US" sz="105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focusing parameter (raised from 2.0)
</a:t>
            </a:r>
            <a:r>
              <a:rPr lang="en-US" sz="1050" b="1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Effect:</a:t>
            </a:r>
            <a:r>
              <a:rPr lang="en-US" sz="105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Easy examples (high pt) → low weight; hard misclassified examples → high weight
</a:t>
            </a:r>
            <a:r>
              <a:rPr lang="en-US" sz="1050" b="1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</a:t>
            </a:r>
            <a:r>
              <a:rPr lang="en-US" sz="105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N1 and REM are hard to classify → focal loss focuses training on them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82296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822960"/>
            <a:ext cx="411480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82296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Loss Formula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12801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 = 0.7 × Focal + 0.3 × CrossEntropy(label_smooth=0.1)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175564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smoothing (0.1) prevents overconfidence on training data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219456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2194560"/>
            <a:ext cx="4114800" cy="32004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21945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Boosted Class Weights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2578608"/>
            <a:ext cx="713232" cy="502920"/>
          </a:xfrm>
          <a:prstGeom prst="rect">
            <a:avLst/>
          </a:prstGeom>
          <a:solidFill>
            <a:srgbClr val="5E60CE"/>
          </a:solidFill>
          <a:ln w="12700">
            <a:solidFill>
              <a:srgbClr val="5E60C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578608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54880" y="2834640"/>
            <a:ext cx="7132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×1.0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532120" y="2578608"/>
            <a:ext cx="713232" cy="502920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32120" y="2578608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532120" y="2834640"/>
            <a:ext cx="7132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×5.0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309360" y="2578608"/>
            <a:ext cx="713232" cy="5029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2578608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N2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309360" y="2834640"/>
            <a:ext cx="7132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×1.0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086600" y="2578608"/>
            <a:ext cx="713232" cy="50292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86600" y="2578608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N3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086600" y="2834640"/>
            <a:ext cx="7132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×3.5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863840" y="2578608"/>
            <a:ext cx="713232" cy="502920"/>
          </a:xfrm>
          <a:prstGeom prst="rect">
            <a:avLst/>
          </a:prstGeom>
          <a:solidFill>
            <a:srgbClr val="AE2012"/>
          </a:solidFill>
          <a:ln w="12700">
            <a:solidFill>
              <a:srgbClr val="AE201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63840" y="2578608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863840" y="2834640"/>
            <a:ext cx="7132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×2.5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754880" y="315468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 boost raised 3.0→5.0 as it remained the weakest class in validation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040" y="3566160"/>
            <a:ext cx="8503920" cy="1371600"/>
          </a:xfrm>
          <a:prstGeom prst="rect">
            <a:avLst/>
          </a:prstGeom>
          <a:solidFill>
            <a:srgbClr val="0D1B2A">
              <a:alpha val="95000"/>
            </a:srgb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6118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On-the-fly Noise Augmentation During Training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3931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of training batches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receive additional Gaussian noise (σ=0.02) added to the input tensor in GPU memory.
This differs from the pre-computed augmentation — it adds variability at training time, not preprocessing time.
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effect: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 sees pre-augmented data PLUS runtime noise → more diverse training signal per epoch.</a:t>
            </a:r>
            <a:endParaRPr lang="en-US" sz="105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6384B4C2-9F92-43D6-64E9-86C41D536B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803" y="736567"/>
            <a:ext cx="8866064" cy="423272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6091"/>
          </a:solidFill>
          <a:ln w="12700">
            <a:solidFill>
              <a:srgbClr val="1E60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IBM Plex Mono" panose="020B0509050203000203" pitchFamily="49" charset="0"/>
                <a:ea typeface="Calibri" pitchFamily="34" charset="-122"/>
                <a:cs typeface="Calibri" pitchFamily="34" charset="-120"/>
              </a:rPr>
              <a:t>Spectral Feature Extraction (Cell 10)</a:t>
            </a:r>
            <a:endParaRPr lang="en-US" sz="2200" dirty="0">
              <a:latin typeface="IBM Plex Mono" panose="020B0509050203000203" pitchFamily="49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850392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41248"/>
            <a:ext cx="832104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frequency-domain features? The Autonomic Nervous System (ANS) modulates heart rate differently across sleep stages — captured via HRV spectral bands, not raw ECG power.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20040" y="1435608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Frequency Bands Extracted per Epoch (via STFT)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828800"/>
            <a:ext cx="1371600" cy="475488"/>
          </a:xfrm>
          <a:prstGeom prst="rect">
            <a:avLst/>
          </a:prstGeom>
          <a:solidFill>
            <a:srgbClr val="5E60CE"/>
          </a:solidFill>
          <a:ln w="12700">
            <a:solidFill>
              <a:srgbClr val="5E60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8288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LF-HRV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066544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0.04–0.15 Hz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783080" y="1865376"/>
            <a:ext cx="7040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Sympathetic activity. Elevated during Wake &amp; REM (stress response). Suppressed in N3.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2395728"/>
            <a:ext cx="1371600" cy="47548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39572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HF-HRV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" y="263347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0.15–0.40 Hz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783080" y="2432304"/>
            <a:ext cx="7040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Parasympathetic / Respiratory Sinus Arrhythmia. Peaks in N3 (deep sleep). Low in Wake/REM.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2962656"/>
            <a:ext cx="1371600" cy="475488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96265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Delta-ECG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" y="320040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0.5–4.0 Hz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783080" y="2999232"/>
            <a:ext cx="7040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 envelope in delta frequency range. Changes with cardiac cycle morphology across stages.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3529584"/>
            <a:ext cx="1371600" cy="475488"/>
          </a:xfrm>
          <a:prstGeom prst="rect">
            <a:avLst/>
          </a:prstGeom>
          <a:solidFill>
            <a:srgbClr val="AE2012"/>
          </a:solidFill>
          <a:ln w="12700">
            <a:solidFill>
              <a:srgbClr val="AE20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52958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QRS-Band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" y="376732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4.0–15.0 Hz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783080" y="3566160"/>
            <a:ext cx="7040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QRS complex energy. Reflects heart rate and conduction. Useful for HR-based classification.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4096512"/>
            <a:ext cx="1371600" cy="475488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409651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HF-ECG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040" y="4334256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15–40 Hz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783080" y="4133088"/>
            <a:ext cx="7040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ECG content. Muscle artefact marker. Helps detect noisy or wake-state epochs.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solidFill>
            <a:srgbClr val="0A9396">
              <a:alpha val="20000"/>
            </a:srgbClr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4681728"/>
            <a:ext cx="83210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Each epoch goes from (1, 3000) → (6, 3000)  =  1 raw ECG channel + 5 spectral band channels  |  Memory-safe: processed in batches via memmap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IBM Plex Mono" panose="020B0509050203000203" pitchFamily="49" charset="0"/>
                <a:ea typeface="Calibri" pitchFamily="34" charset="-122"/>
                <a:cs typeface="Calibri" pitchFamily="34" charset="-120"/>
              </a:rPr>
              <a:t>Model Architecture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Mono" panose="020B0509050203000203" pitchFamily="49" charset="0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265176" y="123901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SequenceSleepModel  —  processes 9 consecutive epochs for temporal context</a:t>
            </a:r>
            <a:endParaRPr kumimoji="0" lang="en-US" sz="13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19456" y="1840155"/>
            <a:ext cx="1280160" cy="1828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65176" y="1931595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Sequence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265176" y="2663115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1" u="none" strike="noStrike" kern="1200" cap="none" spc="0" normalizeH="0" baseline="0" noProof="0" dirty="0">
                <a:ln>
                  <a:noFill/>
                </a:ln>
                <a:solidFill>
                  <a:srgbClr val="CCDDDD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(B, 9, 6, 3000)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499616" y="2754555"/>
            <a:ext cx="155448" cy="0"/>
          </a:xfrm>
          <a:prstGeom prst="line">
            <a:avLst/>
          </a:prstGeom>
          <a:noFill/>
          <a:ln w="25400">
            <a:solidFill>
              <a:srgbClr val="0D1B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55064" y="1840155"/>
            <a:ext cx="1280160" cy="1828800"/>
          </a:xfrm>
          <a:prstGeom prst="rect">
            <a:avLst/>
          </a:prstGeom>
          <a:solidFill>
            <a:srgbClr val="148B8B"/>
          </a:solidFill>
          <a:ln w="12700">
            <a:solidFill>
              <a:srgbClr val="148B8B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700784" y="1931595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EpochEncoder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× 9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700784" y="2663115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CNN + Transformer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 epoch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935224" y="2754555"/>
            <a:ext cx="155448" cy="0"/>
          </a:xfrm>
          <a:prstGeom prst="line">
            <a:avLst/>
          </a:prstGeom>
          <a:noFill/>
          <a:ln w="25400">
            <a:solidFill>
              <a:srgbClr val="0D1B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90672" y="1840155"/>
            <a:ext cx="1280160" cy="1828800"/>
          </a:xfrm>
          <a:prstGeom prst="rect">
            <a:avLst/>
          </a:prstGeom>
          <a:solidFill>
            <a:srgbClr val="5DCAA5"/>
          </a:solidFill>
          <a:ln w="12700">
            <a:solidFill>
              <a:srgbClr val="5DCAA5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136392" y="1931595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Positional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136392" y="2663115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 positions</a:t>
            </a:r>
            <a:endParaRPr kumimoji="0" lang="en-US" sz="95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d_model=256</a:t>
            </a:r>
            <a:endParaRPr kumimoji="0" lang="en-US" sz="95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370832" y="2754555"/>
            <a:ext cx="155448" cy="0"/>
          </a:xfrm>
          <a:prstGeom prst="line">
            <a:avLst/>
          </a:prstGeom>
          <a:noFill/>
          <a:ln w="25400">
            <a:solidFill>
              <a:srgbClr val="0D1B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26280" y="1840155"/>
            <a:ext cx="1280160" cy="18288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0" y="1931595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Sequence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572000" y="2663115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 layers</a:t>
            </a:r>
            <a:endParaRPr kumimoji="0" lang="en-US" sz="95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 heads</a:t>
            </a:r>
            <a:endParaRPr kumimoji="0" lang="en-US" sz="95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806440" y="2754555"/>
            <a:ext cx="155448" cy="0"/>
          </a:xfrm>
          <a:prstGeom prst="line">
            <a:avLst/>
          </a:prstGeom>
          <a:noFill/>
          <a:ln w="25400">
            <a:solidFill>
              <a:srgbClr val="0D1B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61888" y="1840155"/>
            <a:ext cx="1280160" cy="182880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007608" y="1931595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007608" y="2663115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256→128→5</a:t>
            </a:r>
            <a:endParaRPr kumimoji="0" lang="en-US" sz="95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Dropout 0.55/0.45</a:t>
            </a:r>
            <a:endParaRPr kumimoji="0" lang="en-US" sz="95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242048" y="2754555"/>
            <a:ext cx="155448" cy="0"/>
          </a:xfrm>
          <a:prstGeom prst="line">
            <a:avLst/>
          </a:prstGeom>
          <a:noFill/>
          <a:ln w="25400">
            <a:solidFill>
              <a:srgbClr val="0D1B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11212" y="1840155"/>
            <a:ext cx="1280160" cy="1828800"/>
          </a:xfrm>
          <a:prstGeom prst="rect">
            <a:avLst/>
          </a:prstGeom>
          <a:solidFill>
            <a:srgbClr val="AE2012"/>
          </a:solidFill>
          <a:ln w="12700">
            <a:solidFill>
              <a:srgbClr val="AE2012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443216" y="1931595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443216" y="2663115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Wake/N1/N2</a:t>
            </a:r>
            <a:endParaRPr kumimoji="0" lang="en-US" sz="95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N3/REM</a:t>
            </a:r>
            <a:endParaRPr kumimoji="0" lang="en-US" sz="95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7562088" y="3767328"/>
            <a:ext cx="9784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E9F5F5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Attention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E9F5F5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Pooling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IBM Plex Mono" panose="020B0509050203000203" pitchFamily="49" charset="0"/>
                <a:ea typeface="Calibri" pitchFamily="34" charset="-122"/>
                <a:cs typeface="Calibri" pitchFamily="34" charset="-120"/>
              </a:rPr>
              <a:t>Training Strategy &amp; Hyperparameters (Cells 13–14)</a:t>
            </a:r>
            <a:endParaRPr lang="en-US" sz="2200" dirty="0">
              <a:latin typeface="IBM Plex Mono" panose="020B0509050203000203" pitchFamily="49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22960"/>
            <a:ext cx="4023360" cy="36576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229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Optimizer: AdamW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26187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19072" y="1261872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8e-5 (lowered from 1e-4 to reduce overfit)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17904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Decay: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19072" y="1517904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1e-2 (L2 penalty, raised from 5e-3)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1773936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Betas: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19072" y="1773936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(0.9, 0.999) — standard momentum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202996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Clip: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719072" y="2029968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max_norm=1.0 — prevents exploding gradients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487168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487168"/>
            <a:ext cx="4023360" cy="36576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48716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Warmup Cosine Scheduler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" y="292608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Warmup: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444752" y="2926080"/>
            <a:ext cx="2788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epochs (linear ramp-up)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318211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Decay: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444752" y="3182112"/>
            <a:ext cx="2788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annealing after warmup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3438144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eta_min: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444752" y="3438144"/>
            <a:ext cx="2788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1e-6 (minimum learning rate)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" y="3694176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444752" y="3694176"/>
            <a:ext cx="2788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epochs maximum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0" y="822960"/>
            <a:ext cx="4206240" cy="3218688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0" y="822960"/>
            <a:ext cx="420624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8229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Loop — Per Epoch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663440" y="126187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Train: forward pass → focal+CE loss → backprop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663440" y="15544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Optional noise injection (20% of batches)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63440" y="184708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Gradient clipping (norm ≤ 1.0)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663440" y="213969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Validate: collect preds, compute kappa &amp; F1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663440" y="243230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Scheduler step → update LR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663440" y="272491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If val_kappa &gt; best → save checkpoint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663440" y="30175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Patience counter: if no improvement for 20 epochs → early stop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663440" y="331012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Monitor: train acc, val acc, macro-F1, Cohen's κ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663440" y="360273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Plot loss curves and accuracy after training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IBM Plex Mono" panose="020B0509050203000203" pitchFamily="49" charset="0"/>
                <a:ea typeface="Calibri" pitchFamily="34" charset="-122"/>
                <a:cs typeface="Calibri" pitchFamily="34" charset="-120"/>
              </a:rPr>
              <a:t>Evaluation &amp; Metrics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Mono" panose="020B0509050203000203" pitchFamily="49" charset="0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2606040" cy="1417320"/>
          </a:xfrm>
          <a:prstGeom prst="rect">
            <a:avLst/>
          </a:prstGeom>
          <a:solidFill>
            <a:srgbClr val="0D1B2A"/>
          </a:solidFill>
          <a:ln w="25400">
            <a:solidFill>
              <a:srgbClr val="0A9396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9875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A939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✓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43000" y="98755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B0C4C4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Overall % of epochs correctly classified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B0C4C4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across all 5 sleep stages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200400" y="914400"/>
            <a:ext cx="2606040" cy="1417320"/>
          </a:xfrm>
          <a:prstGeom prst="rect">
            <a:avLst/>
          </a:prstGeom>
          <a:solidFill>
            <a:srgbClr val="0D1B2A"/>
          </a:solidFill>
          <a:ln w="25400">
            <a:solidFill>
              <a:srgbClr val="EE9B00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9875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E9B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κ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3977640" y="98755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Cohen's Kappa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337560" y="14630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B0C4C4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Agreement beyond chance.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B0C4C4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κ &gt; 0.6 = substantial, κ &gt; 0.8 = near-perfect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035040" y="914400"/>
            <a:ext cx="2606040" cy="1417320"/>
          </a:xfrm>
          <a:prstGeom prst="rect">
            <a:avLst/>
          </a:prstGeom>
          <a:solidFill>
            <a:srgbClr val="0D1B2A"/>
          </a:solidFill>
          <a:ln w="25400">
            <a:solidFill>
              <a:srgbClr val="AE2012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72200" y="9875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AE201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F1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812280" y="98755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Macro F1-Score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172200" y="14630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B0C4C4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Unweighted average F1 across all classes.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B0C4C4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Penalizes models that ignore rare stages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65760" y="2514600"/>
            <a:ext cx="4114800" cy="2331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6334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EE9B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48640" y="3063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A939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9F5F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by true class (rows sum to 1.0)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48640" y="3474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A939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9F5F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Reveals per-class errors: e.g., N1↔N2 confusion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48640" y="38862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A939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9F5F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Displayed with 'Blues' colormap in Matplotlib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48640" y="4297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A939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9F5F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Shows whether model correctly distinguishes N3 and REM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663440" y="2514600"/>
            <a:ext cx="4114800" cy="2331720"/>
          </a:xfrm>
          <a:prstGeom prst="rect">
            <a:avLst/>
          </a:prstGeom>
          <a:solidFill>
            <a:srgbClr val="1E3A3A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26334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EE9B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Visual Outputs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846320" y="30358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94D2B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ROC Curves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846320" y="32644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9F5F5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One-vs-Rest AUC for all 5 stages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9F5F5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 Train / Val / Test splits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846320" y="360273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94D2B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Hypnogram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846320" y="38313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9F5F5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Side-by-side true vs predicted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9F5F5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sleep stage timeline over the night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846320" y="416966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94D2B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Training Curves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846320" y="43982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9F5F5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Loss and accuracy vs epoch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9F5F5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with macro F1 overlay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269EF-107F-D388-63D0-E851F72E7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7AAE212-99D0-F6E0-823B-09B6926253C8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791E74D-C602-9108-FB3B-C2C387637062}"/>
              </a:ext>
            </a:extLst>
          </p:cNvPr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IBM Plex Mono" panose="020B0509050203000203" pitchFamily="49" charset="0"/>
                <a:ea typeface="Calibri" pitchFamily="34" charset="-122"/>
                <a:cs typeface="Calibri" pitchFamily="34" charset="-120"/>
              </a:rPr>
              <a:t>Evaluation Metrics &amp; Results (Cell 15)</a:t>
            </a:r>
            <a:endParaRPr lang="en-US" sz="2200" dirty="0">
              <a:latin typeface="IBM Plex Mono" panose="020B0509050203000203" pitchFamily="49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D96C4B2-66C3-2DFB-484D-8F15CF8E9333}"/>
              </a:ext>
            </a:extLst>
          </p:cNvPr>
          <p:cNvSpPr/>
          <p:nvPr/>
        </p:nvSpPr>
        <p:spPr>
          <a:xfrm>
            <a:off x="320040" y="822960"/>
            <a:ext cx="1965960" cy="822960"/>
          </a:xfrm>
          <a:prstGeom prst="rect">
            <a:avLst/>
          </a:prstGeom>
          <a:solidFill>
            <a:srgbClr val="1E6091"/>
          </a:solidFill>
          <a:ln w="12700">
            <a:solidFill>
              <a:srgbClr val="1E6091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0B73089-504E-863D-BD08-E732FFC560A4}"/>
              </a:ext>
            </a:extLst>
          </p:cNvPr>
          <p:cNvSpPr/>
          <p:nvPr/>
        </p:nvSpPr>
        <p:spPr>
          <a:xfrm>
            <a:off x="320040" y="8229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77B126C-12A0-C4E2-55F2-04DAA1C27377}"/>
              </a:ext>
            </a:extLst>
          </p:cNvPr>
          <p:cNvSpPr/>
          <p:nvPr/>
        </p:nvSpPr>
        <p:spPr>
          <a:xfrm>
            <a:off x="320040" y="123444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20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508C89A-0358-FEC0-38D3-18F6F2D305A0}"/>
              </a:ext>
            </a:extLst>
          </p:cNvPr>
          <p:cNvSpPr/>
          <p:nvPr/>
        </p:nvSpPr>
        <p:spPr>
          <a:xfrm>
            <a:off x="320040" y="1645920"/>
            <a:ext cx="19659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6091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0668DBC-374A-0B99-3EC2-3FBCE5807315}"/>
              </a:ext>
            </a:extLst>
          </p:cNvPr>
          <p:cNvSpPr/>
          <p:nvPr/>
        </p:nvSpPr>
        <p:spPr>
          <a:xfrm>
            <a:off x="393192" y="1673352"/>
            <a:ext cx="18288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correctly classified epochs across all 5 stages</a:t>
            </a:r>
            <a:endParaRPr lang="en-US" sz="95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E6001B75-39A0-3027-4254-FD75DE36C79C}"/>
              </a:ext>
            </a:extLst>
          </p:cNvPr>
          <p:cNvSpPr/>
          <p:nvPr/>
        </p:nvSpPr>
        <p:spPr>
          <a:xfrm>
            <a:off x="2450592" y="822960"/>
            <a:ext cx="1965960" cy="82296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5E976E6-654F-1264-88F9-24E931B2B062}"/>
              </a:ext>
            </a:extLst>
          </p:cNvPr>
          <p:cNvSpPr/>
          <p:nvPr/>
        </p:nvSpPr>
        <p:spPr>
          <a:xfrm>
            <a:off x="2450592" y="8229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Cohen's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Kappa</a:t>
            </a:r>
            <a:endParaRPr lang="en-US" sz="12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9C8ABB0-0C55-2CFA-3F1F-FF9AD4FC311A}"/>
              </a:ext>
            </a:extLst>
          </p:cNvPr>
          <p:cNvSpPr/>
          <p:nvPr/>
        </p:nvSpPr>
        <p:spPr>
          <a:xfrm>
            <a:off x="2450592" y="123444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l-GR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</a:t>
            </a:r>
            <a:r>
              <a:rPr lang="ar-EG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0.5933</a:t>
            </a:r>
            <a:endParaRPr lang="en-US" sz="20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5CC89D93-1C30-120E-82DB-07399F3C590C}"/>
              </a:ext>
            </a:extLst>
          </p:cNvPr>
          <p:cNvSpPr/>
          <p:nvPr/>
        </p:nvSpPr>
        <p:spPr>
          <a:xfrm>
            <a:off x="2450592" y="1645920"/>
            <a:ext cx="19659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700744D-30ED-0866-E497-A08BEE03C006}"/>
              </a:ext>
            </a:extLst>
          </p:cNvPr>
          <p:cNvSpPr/>
          <p:nvPr/>
        </p:nvSpPr>
        <p:spPr>
          <a:xfrm>
            <a:off x="2523744" y="1673352"/>
            <a:ext cx="18288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beyond chance — primary checkpoint metric</a:t>
            </a:r>
            <a:endParaRPr lang="en-US" sz="9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2073ED15-5835-C877-F26F-DF0071D48D90}"/>
              </a:ext>
            </a:extLst>
          </p:cNvPr>
          <p:cNvSpPr/>
          <p:nvPr/>
        </p:nvSpPr>
        <p:spPr>
          <a:xfrm>
            <a:off x="4572000" y="818388"/>
            <a:ext cx="1965960" cy="822960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EE97ACA-D985-14E5-B937-18B1C268B8CE}"/>
              </a:ext>
            </a:extLst>
          </p:cNvPr>
          <p:cNvSpPr/>
          <p:nvPr/>
        </p:nvSpPr>
        <p:spPr>
          <a:xfrm>
            <a:off x="4581144" y="8229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2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1B09A370-F21F-70E0-AD69-AC29D8121CFE}"/>
              </a:ext>
            </a:extLst>
          </p:cNvPr>
          <p:cNvSpPr/>
          <p:nvPr/>
        </p:nvSpPr>
        <p:spPr>
          <a:xfrm>
            <a:off x="4581144" y="123444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</a:t>
            </a:r>
            <a:endParaRPr lang="en-US" sz="20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20D12A9A-3F40-4C39-E501-651FDCD1DE0B}"/>
              </a:ext>
            </a:extLst>
          </p:cNvPr>
          <p:cNvSpPr/>
          <p:nvPr/>
        </p:nvSpPr>
        <p:spPr>
          <a:xfrm>
            <a:off x="4581144" y="1645920"/>
            <a:ext cx="19659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4B31"/>
            </a:solidFill>
            <a:prstDash val="solid"/>
          </a:ln>
        </p:spPr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CDACD60E-3C44-BC31-C0CB-7A77E8D2AF22}"/>
              </a:ext>
            </a:extLst>
          </p:cNvPr>
          <p:cNvSpPr/>
          <p:nvPr/>
        </p:nvSpPr>
        <p:spPr>
          <a:xfrm>
            <a:off x="4654296" y="1673352"/>
            <a:ext cx="18288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F1 across all 5 classes — equal class weight</a:t>
            </a:r>
            <a:endParaRPr lang="en-US" sz="95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9556359D-E174-7DF0-CF6A-C223A68D44A6}"/>
              </a:ext>
            </a:extLst>
          </p:cNvPr>
          <p:cNvSpPr/>
          <p:nvPr/>
        </p:nvSpPr>
        <p:spPr>
          <a:xfrm>
            <a:off x="6711696" y="822960"/>
            <a:ext cx="1965960" cy="8229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65659367-0027-D87A-5CDA-A396233BA44A}"/>
              </a:ext>
            </a:extLst>
          </p:cNvPr>
          <p:cNvSpPr/>
          <p:nvPr/>
        </p:nvSpPr>
        <p:spPr>
          <a:xfrm>
            <a:off x="6711696" y="8229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One-vs-Rest</a:t>
            </a:r>
            <a:endParaRPr lang="en-US" sz="12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CD9F8F77-1983-9832-C9EC-1203968C0768}"/>
              </a:ext>
            </a:extLst>
          </p:cNvPr>
          <p:cNvSpPr/>
          <p:nvPr/>
        </p:nvSpPr>
        <p:spPr>
          <a:xfrm>
            <a:off x="6711696" y="123444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~0.90+</a:t>
            </a:r>
            <a:endParaRPr lang="en-US" sz="20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AEA7D188-3368-280C-DA42-E37449A29DDA}"/>
              </a:ext>
            </a:extLst>
          </p:cNvPr>
          <p:cNvSpPr/>
          <p:nvPr/>
        </p:nvSpPr>
        <p:spPr>
          <a:xfrm>
            <a:off x="6711696" y="1645920"/>
            <a:ext cx="19659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3D3AB8F3-EF4D-B166-B9CD-8C8DE3B64B81}"/>
              </a:ext>
            </a:extLst>
          </p:cNvPr>
          <p:cNvSpPr/>
          <p:nvPr/>
        </p:nvSpPr>
        <p:spPr>
          <a:xfrm>
            <a:off x="6784848" y="1673352"/>
            <a:ext cx="18288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Discriminability per class (train / val / test shown)</a:t>
            </a:r>
            <a:endParaRPr lang="en-US" sz="95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258EEF9D-C33F-8F7D-A928-6ECB73039265}"/>
              </a:ext>
            </a:extLst>
          </p:cNvPr>
          <p:cNvSpPr/>
          <p:nvPr/>
        </p:nvSpPr>
        <p:spPr>
          <a:xfrm>
            <a:off x="320040" y="24231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Performance — Classification Report</a:t>
            </a:r>
            <a:endParaRPr lang="en-US" sz="1300" dirty="0"/>
          </a:p>
        </p:txBody>
      </p:sp>
      <p:pic>
        <p:nvPicPr>
          <p:cNvPr id="86" name="Picture 85">
            <a:extLst>
              <a:ext uri="{FF2B5EF4-FFF2-40B4-BE49-F238E27FC236}">
                <a16:creationId xmlns:a16="http://schemas.microsoft.com/office/drawing/2014/main" id="{4510D277-EE56-E814-474E-63CF1F5195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713" t="15047" r="713"/>
          <a:stretch>
            <a:fillRect/>
          </a:stretch>
        </p:blipFill>
        <p:spPr>
          <a:xfrm>
            <a:off x="1186756" y="2880360"/>
            <a:ext cx="5868219" cy="1905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5486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 &amp; Results (Cell 15)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1965960" cy="822960"/>
          </a:xfrm>
          <a:prstGeom prst="rect">
            <a:avLst/>
          </a:prstGeom>
          <a:solidFill>
            <a:srgbClr val="1E6091"/>
          </a:solidFill>
          <a:ln w="12700">
            <a:solidFill>
              <a:srgbClr val="1E609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229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" y="123444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" y="1645920"/>
            <a:ext cx="19659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609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673352"/>
            <a:ext cx="18288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correctly classified epochs across all 5 stages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50592" y="822960"/>
            <a:ext cx="1965960" cy="82296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50592" y="8229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Cohen's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Kappa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50592" y="123444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l-GR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</a:t>
            </a:r>
            <a:r>
              <a:rPr lang="ar-EG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0.5933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450592" y="1645920"/>
            <a:ext cx="19659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23744" y="1673352"/>
            <a:ext cx="18288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beyond chance — primary checkpoint metric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0" y="818388"/>
            <a:ext cx="1965960" cy="822960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81144" y="8229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81144" y="123444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581144" y="1645920"/>
            <a:ext cx="19659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4B3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54296" y="1673352"/>
            <a:ext cx="18288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F1 across all 5 classes — equal class weight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711696" y="822960"/>
            <a:ext cx="1965960" cy="8229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11696" y="8229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One-vs-Rest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11696" y="123444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~0.90+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711696" y="1645920"/>
            <a:ext cx="19659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84848" y="1673352"/>
            <a:ext cx="18288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Discriminability per class (train / val / test shown)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20040" y="24231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Performance — Classification Report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0040" y="2807208"/>
            <a:ext cx="1627632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2807208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011680" y="2807208"/>
            <a:ext cx="1627632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11680" y="2807208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703320" y="2807208"/>
            <a:ext cx="1627632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03320" y="2807208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394960" y="2807208"/>
            <a:ext cx="1627632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94960" y="2807208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086600" y="2807208"/>
            <a:ext cx="1627632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86600" y="2807208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20040" y="3099816"/>
            <a:ext cx="1627632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" y="3099816"/>
            <a:ext cx="157276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E6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   (0)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011680" y="3099816"/>
            <a:ext cx="1627632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039112" y="3099816"/>
            <a:ext cx="157276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703320" y="3099816"/>
            <a:ext cx="1627632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30752" y="3099816"/>
            <a:ext cx="157276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394960" y="3099816"/>
            <a:ext cx="1627632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22392" y="3099816"/>
            <a:ext cx="157276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086600" y="3099816"/>
            <a:ext cx="1627632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14032" y="3099816"/>
            <a:ext cx="157276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— physiologically distinct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20040" y="3383280"/>
            <a:ext cx="1627632" cy="265176"/>
          </a:xfrm>
          <a:prstGeom prst="rect">
            <a:avLst/>
          </a:prstGeom>
          <a:solidFill>
            <a:srgbClr val="F5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7472" y="3383280"/>
            <a:ext cx="157276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     (1)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011680" y="3383280"/>
            <a:ext cx="1627632" cy="265176"/>
          </a:xfrm>
          <a:prstGeom prst="rect">
            <a:avLst/>
          </a:prstGeom>
          <a:solidFill>
            <a:srgbClr val="F5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039112" y="3383280"/>
            <a:ext cx="157276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Low→Med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703320" y="3383280"/>
            <a:ext cx="1627632" cy="265176"/>
          </a:xfrm>
          <a:prstGeom prst="rect">
            <a:avLst/>
          </a:prstGeom>
          <a:solidFill>
            <a:srgbClr val="F5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730752" y="3383280"/>
            <a:ext cx="157276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Low→Med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394960" y="3383280"/>
            <a:ext cx="1627632" cy="265176"/>
          </a:xfrm>
          <a:prstGeom prst="rect">
            <a:avLst/>
          </a:prstGeom>
          <a:solidFill>
            <a:srgbClr val="F5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22392" y="3383280"/>
            <a:ext cx="157276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7086600" y="3383280"/>
            <a:ext cx="1627632" cy="265176"/>
          </a:xfrm>
          <a:prstGeom prst="rect">
            <a:avLst/>
          </a:prstGeom>
          <a:solidFill>
            <a:srgbClr val="F5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114032" y="3383280"/>
            <a:ext cx="157276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Hardest: transitions, little ECG signature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20040" y="3666744"/>
            <a:ext cx="1627632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47472" y="3666744"/>
            <a:ext cx="157276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N2     (2)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2011680" y="3666744"/>
            <a:ext cx="1627632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039112" y="3666744"/>
            <a:ext cx="157276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3703320" y="3666744"/>
            <a:ext cx="1627632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730752" y="3666744"/>
            <a:ext cx="157276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5394960" y="3666744"/>
            <a:ext cx="1627632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22392" y="3666744"/>
            <a:ext cx="157276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7086600" y="3666744"/>
            <a:ext cx="1627632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114032" y="3666744"/>
            <a:ext cx="157276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epochs available, well-learned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320040" y="3950208"/>
            <a:ext cx="1627632" cy="265176"/>
          </a:xfrm>
          <a:prstGeom prst="rect">
            <a:avLst/>
          </a:prstGeom>
          <a:solidFill>
            <a:srgbClr val="F5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47472" y="3950208"/>
            <a:ext cx="157276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N3     (3)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2011680" y="3950208"/>
            <a:ext cx="1627632" cy="265176"/>
          </a:xfrm>
          <a:prstGeom prst="rect">
            <a:avLst/>
          </a:prstGeom>
          <a:solidFill>
            <a:srgbClr val="F5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039112" y="3950208"/>
            <a:ext cx="157276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Med→High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3703320" y="3950208"/>
            <a:ext cx="1627632" cy="265176"/>
          </a:xfrm>
          <a:prstGeom prst="rect">
            <a:avLst/>
          </a:prstGeom>
          <a:solidFill>
            <a:srgbClr val="F5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730752" y="3950208"/>
            <a:ext cx="157276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Med→High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5394960" y="3950208"/>
            <a:ext cx="1627632" cy="265176"/>
          </a:xfrm>
          <a:prstGeom prst="rect">
            <a:avLst/>
          </a:prstGeom>
          <a:solidFill>
            <a:srgbClr val="F5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422392" y="3950208"/>
            <a:ext cx="157276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7086600" y="3950208"/>
            <a:ext cx="1627632" cy="265176"/>
          </a:xfrm>
          <a:prstGeom prst="rect">
            <a:avLst/>
          </a:prstGeom>
          <a:solidFill>
            <a:srgbClr val="F5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114032" y="3950208"/>
            <a:ext cx="157276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slow HR — benefits from HF-HRV band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320040" y="4233672"/>
            <a:ext cx="1627632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47472" y="4233672"/>
            <a:ext cx="157276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E2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    (4)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2011680" y="4233672"/>
            <a:ext cx="1627632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039112" y="4233672"/>
            <a:ext cx="157276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3703320" y="4233672"/>
            <a:ext cx="1627632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730752" y="4233672"/>
            <a:ext cx="157276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5394960" y="4233672"/>
            <a:ext cx="1627632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422392" y="4233672"/>
            <a:ext cx="157276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7086600" y="4233672"/>
            <a:ext cx="1627632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114032" y="4233672"/>
            <a:ext cx="157276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similar to Wake — needs contextual epochs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942"/>
          </a:solidFill>
          <a:ln w="12700">
            <a:solidFill>
              <a:srgbClr val="1A29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IBM Plex Mono" panose="020B0509050203000203" pitchFamily="49" charset="0"/>
                <a:ea typeface="Calibri" pitchFamily="34" charset="-122"/>
                <a:cs typeface="Calibri" pitchFamily="34" charset="-120"/>
              </a:rPr>
              <a:t>Confusion Matrix &amp; Hypnogram Interpretation</a:t>
            </a:r>
            <a:endParaRPr lang="en-US" sz="2200" dirty="0">
              <a:latin typeface="IBM Plex Mono" panose="020B0509050203000203" pitchFamily="49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(Normalized by True Label)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621792" cy="621792"/>
          </a:xfrm>
          <a:prstGeom prst="rect">
            <a:avLst/>
          </a:prstGeom>
          <a:solidFill>
            <a:srgbClr val="0A939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7043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87552" y="1170432"/>
            <a:ext cx="621792" cy="621792"/>
          </a:xfrm>
          <a:prstGeom prst="rect">
            <a:avLst/>
          </a:prstGeom>
          <a:solidFill>
            <a:srgbClr val="DBEA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17043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609344" y="1170432"/>
            <a:ext cx="621792" cy="621792"/>
          </a:xfrm>
          <a:prstGeom prst="rect">
            <a:avLst/>
          </a:prstGeom>
          <a:solidFill>
            <a:srgbClr val="DBEA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9344" y="117043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31136" y="1170432"/>
            <a:ext cx="621792" cy="621792"/>
          </a:xfrm>
          <a:prstGeom prst="rect">
            <a:avLst/>
          </a:prstGeom>
          <a:solidFill>
            <a:srgbClr val="DBEA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31136" y="117043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852928" y="1170432"/>
            <a:ext cx="621792" cy="621792"/>
          </a:xfrm>
          <a:prstGeom prst="rect">
            <a:avLst/>
          </a:prstGeom>
          <a:solidFill>
            <a:srgbClr val="DBEA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52928" y="117043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8288" y="1170432"/>
            <a:ext cx="3291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5E6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1792224"/>
            <a:ext cx="621792" cy="621792"/>
          </a:xfrm>
          <a:prstGeom prst="rect">
            <a:avLst/>
          </a:prstGeom>
          <a:solidFill>
            <a:srgbClr val="EE9B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79222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87552" y="1792224"/>
            <a:ext cx="621792" cy="621792"/>
          </a:xfrm>
          <a:prstGeom prst="rect">
            <a:avLst/>
          </a:prstGeom>
          <a:solidFill>
            <a:srgbClr val="0A939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179222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0.45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609344" y="1792224"/>
            <a:ext cx="621792" cy="621792"/>
          </a:xfrm>
          <a:prstGeom prst="rect">
            <a:avLst/>
          </a:prstGeom>
          <a:solidFill>
            <a:srgbClr val="AE201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09344" y="179222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231136" y="1792224"/>
            <a:ext cx="621792" cy="621792"/>
          </a:xfrm>
          <a:prstGeom prst="rect">
            <a:avLst/>
          </a:prstGeom>
          <a:solidFill>
            <a:srgbClr val="DBEA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31136" y="179222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852928" y="1792224"/>
            <a:ext cx="621792" cy="621792"/>
          </a:xfrm>
          <a:prstGeom prst="rect">
            <a:avLst/>
          </a:prstGeom>
          <a:solidFill>
            <a:srgbClr val="EE9B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52928" y="179222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8288" y="1792224"/>
            <a:ext cx="3291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2414016"/>
            <a:ext cx="621792" cy="621792"/>
          </a:xfrm>
          <a:prstGeom prst="rect">
            <a:avLst/>
          </a:prstGeom>
          <a:solidFill>
            <a:srgbClr val="DBEA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2414016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87552" y="2414016"/>
            <a:ext cx="621792" cy="621792"/>
          </a:xfrm>
          <a:prstGeom prst="rect">
            <a:avLst/>
          </a:prstGeom>
          <a:solidFill>
            <a:srgbClr val="DBEA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87552" y="2414016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609344" y="2414016"/>
            <a:ext cx="621792" cy="621792"/>
          </a:xfrm>
          <a:prstGeom prst="rect">
            <a:avLst/>
          </a:prstGeom>
          <a:solidFill>
            <a:srgbClr val="0A939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609344" y="2414016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231136" y="2414016"/>
            <a:ext cx="621792" cy="621792"/>
          </a:xfrm>
          <a:prstGeom prst="rect">
            <a:avLst/>
          </a:prstGeom>
          <a:solidFill>
            <a:srgbClr val="DBEA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31136" y="2414016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2852928" y="2414016"/>
            <a:ext cx="621792" cy="621792"/>
          </a:xfrm>
          <a:prstGeom prst="rect">
            <a:avLst/>
          </a:prstGeom>
          <a:solidFill>
            <a:srgbClr val="DBEA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52928" y="2414016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8288" y="2414016"/>
            <a:ext cx="3291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N2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65760" y="3035808"/>
            <a:ext cx="621792" cy="621792"/>
          </a:xfrm>
          <a:prstGeom prst="rect">
            <a:avLst/>
          </a:prstGeom>
          <a:solidFill>
            <a:srgbClr val="DBEA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035808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987552" y="3035808"/>
            <a:ext cx="621792" cy="621792"/>
          </a:xfrm>
          <a:prstGeom prst="rect">
            <a:avLst/>
          </a:prstGeom>
          <a:solidFill>
            <a:srgbClr val="DBEA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87552" y="3035808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1609344" y="3035808"/>
            <a:ext cx="621792" cy="621792"/>
          </a:xfrm>
          <a:prstGeom prst="rect">
            <a:avLst/>
          </a:prstGeom>
          <a:solidFill>
            <a:srgbClr val="EE9B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609344" y="3035808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2231136" y="3035808"/>
            <a:ext cx="621792" cy="621792"/>
          </a:xfrm>
          <a:prstGeom prst="rect">
            <a:avLst/>
          </a:prstGeom>
          <a:solidFill>
            <a:srgbClr val="0A939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231136" y="3035808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2852928" y="3035808"/>
            <a:ext cx="621792" cy="621792"/>
          </a:xfrm>
          <a:prstGeom prst="rect">
            <a:avLst/>
          </a:prstGeom>
          <a:solidFill>
            <a:srgbClr val="DBEA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852928" y="3035808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18288" y="3035808"/>
            <a:ext cx="3291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N3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65760" y="3657600"/>
            <a:ext cx="621792" cy="621792"/>
          </a:xfrm>
          <a:prstGeom prst="rect">
            <a:avLst/>
          </a:prstGeom>
          <a:solidFill>
            <a:srgbClr val="EE9B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365760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987552" y="3657600"/>
            <a:ext cx="621792" cy="621792"/>
          </a:xfrm>
          <a:prstGeom prst="rect">
            <a:avLst/>
          </a:prstGeom>
          <a:solidFill>
            <a:srgbClr val="DBEA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87552" y="365760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1609344" y="3657600"/>
            <a:ext cx="621792" cy="621792"/>
          </a:xfrm>
          <a:prstGeom prst="rect">
            <a:avLst/>
          </a:prstGeom>
          <a:solidFill>
            <a:srgbClr val="DBEA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609344" y="365760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2231136" y="3657600"/>
            <a:ext cx="621792" cy="621792"/>
          </a:xfrm>
          <a:prstGeom prst="rect">
            <a:avLst/>
          </a:prstGeom>
          <a:solidFill>
            <a:srgbClr val="DBEA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231136" y="365760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2852928" y="3657600"/>
            <a:ext cx="621792" cy="621792"/>
          </a:xfrm>
          <a:prstGeom prst="rect">
            <a:avLst/>
          </a:prstGeom>
          <a:solidFill>
            <a:srgbClr val="0A939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852928" y="365760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18288" y="3657600"/>
            <a:ext cx="3291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AE2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365760" y="914400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E6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987552" y="914400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1609344" y="914400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N2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2231136" y="914400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N3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2852928" y="914400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AE2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18288" y="914400"/>
            <a:ext cx="329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Pred→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18288" y="1170432"/>
            <a:ext cx="329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↓True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4572000" y="804672"/>
            <a:ext cx="4206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4572000" y="1170432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572000" y="1170432"/>
            <a:ext cx="64008" cy="7498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700016" y="1225296"/>
            <a:ext cx="4005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N2 &amp; N3 — highest accuracy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4700016" y="1499616"/>
            <a:ext cx="4005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distinct ECG patterns; large training set for N2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4572000" y="1993392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572000" y="1993392"/>
            <a:ext cx="64008" cy="749808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700016" y="2048256"/>
            <a:ext cx="4005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 — most confused class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4700016" y="2322576"/>
            <a:ext cx="4005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Confused with Wake (12%) and N2 (30%) — transition stage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4572000" y="2816352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AE201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572000" y="2816352"/>
            <a:ext cx="64008" cy="749808"/>
          </a:xfrm>
          <a:prstGeom prst="rect">
            <a:avLst/>
          </a:prstGeom>
          <a:solidFill>
            <a:srgbClr val="AE2012"/>
          </a:solidFill>
          <a:ln w="12700">
            <a:solidFill>
              <a:srgbClr val="AE2012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700016" y="2871216"/>
            <a:ext cx="4005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E2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 ↔ Wake confusion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4700016" y="3145536"/>
            <a:ext cx="4005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show irregular HR &amp; low HF-HRV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4572000" y="3639312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572000" y="3639312"/>
            <a:ext cx="64008" cy="749808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700016" y="3694176"/>
            <a:ext cx="4005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N3 rarely misclassified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4700016" y="3968496"/>
            <a:ext cx="4005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Parasympathetic dominance creates clear ECG pattern — benefits from HF-HRV band feature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411480" y="4498848"/>
            <a:ext cx="8321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Hypnogram: Side-by-side True vs Predicted sleep stages plotted over time (hours) — shows the model captures the overall sleep architecture despite some N1/REM confusion</a:t>
            </a:r>
            <a:endParaRPr lang="en-US" sz="1050" dirty="0"/>
          </a:p>
        </p:txBody>
      </p:sp>
      <p:pic>
        <p:nvPicPr>
          <p:cNvPr id="87" name="Picture 86">
            <a:extLst>
              <a:ext uri="{FF2B5EF4-FFF2-40B4-BE49-F238E27FC236}">
                <a16:creationId xmlns:a16="http://schemas.microsoft.com/office/drawing/2014/main" id="{D8D2E49E-7DE6-F8C8-0DB7-3025D52DF5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" y="804672"/>
            <a:ext cx="3683239" cy="354682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8A453D-9B81-93D9-BFEE-6531A1827C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3713"/>
            <a:ext cx="9144000" cy="3516073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F77D8AF8-12EF-36E0-991C-04CFCFA5413C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942"/>
          </a:solidFill>
          <a:ln w="12700">
            <a:solidFill>
              <a:srgbClr val="1A2942"/>
            </a:solidFill>
            <a:prstDash val="solid"/>
          </a:ln>
        </p:spPr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5A8C7BB5-582B-DA01-35D7-B6E554F2418C}"/>
              </a:ext>
            </a:extLst>
          </p:cNvPr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IBM Plex Mono" panose="020B0509050203000203" pitchFamily="49" charset="0"/>
                <a:ea typeface="Calibri" pitchFamily="34" charset="-122"/>
                <a:cs typeface="Calibri" pitchFamily="34" charset="-120"/>
              </a:rPr>
              <a:t>Confusion Matrix &amp; Hypnogram Interpretation</a:t>
            </a:r>
            <a:endParaRPr lang="en-US" sz="2200" dirty="0">
              <a:latin typeface="IBM Plex Mono" panose="020B0509050203000203" pitchFamily="49" charset="0"/>
            </a:endParaRPr>
          </a:p>
        </p:txBody>
      </p:sp>
      <p:sp>
        <p:nvSpPr>
          <p:cNvPr id="6" name="Shape 82">
            <a:extLst>
              <a:ext uri="{FF2B5EF4-FFF2-40B4-BE49-F238E27FC236}">
                <a16:creationId xmlns:a16="http://schemas.microsoft.com/office/drawing/2014/main" id="{57100494-20DF-1E00-20CC-1C549AB3567C}"/>
              </a:ext>
            </a:extLst>
          </p:cNvPr>
          <p:cNvSpPr/>
          <p:nvPr/>
        </p:nvSpPr>
        <p:spPr>
          <a:xfrm>
            <a:off x="320040" y="4480560"/>
            <a:ext cx="850392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83">
            <a:extLst>
              <a:ext uri="{FF2B5EF4-FFF2-40B4-BE49-F238E27FC236}">
                <a16:creationId xmlns:a16="http://schemas.microsoft.com/office/drawing/2014/main" id="{4567D738-F048-ECD3-ABB6-DF009BE4709C}"/>
              </a:ext>
            </a:extLst>
          </p:cNvPr>
          <p:cNvSpPr/>
          <p:nvPr/>
        </p:nvSpPr>
        <p:spPr>
          <a:xfrm>
            <a:off x="411480" y="4498848"/>
            <a:ext cx="8321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Hypnogram: Side-by-side True vs Predicted sleep stages plotted over time (hours) — shows the model captures the overall sleep architecture despite some N1/REM confusion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40042862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12597-AFBC-CE3D-3D81-2CD9BB40B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996272B-BE85-600C-7767-AAF74A426E82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6091"/>
          </a:solidFill>
          <a:ln w="12700">
            <a:solidFill>
              <a:srgbClr val="1E6091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C0C5211-963F-969A-3518-58AFD875EC06}"/>
              </a:ext>
            </a:extLst>
          </p:cNvPr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IBM Plex Mono" panose="020B0509050203000203" pitchFamily="49" charset="0"/>
                <a:ea typeface="Calibri" pitchFamily="34" charset="-122"/>
                <a:cs typeface="Calibri" pitchFamily="34" charset="-120"/>
              </a:rPr>
              <a:t>ROC Curves &amp; AUC Analysis</a:t>
            </a:r>
            <a:endParaRPr lang="en-US" sz="2200" dirty="0">
              <a:latin typeface="IBM Plex Mono" panose="020B0509050203000203" pitchFamily="49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1251FF6-054F-4074-73EA-F269B0ADFE3A}"/>
              </a:ext>
            </a:extLst>
          </p:cNvPr>
          <p:cNvSpPr/>
          <p:nvPr/>
        </p:nvSpPr>
        <p:spPr>
          <a:xfrm>
            <a:off x="320040" y="804672"/>
            <a:ext cx="850392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4EF665E-CD1E-227D-8472-05A307A2DE0F}"/>
              </a:ext>
            </a:extLst>
          </p:cNvPr>
          <p:cNvSpPr/>
          <p:nvPr/>
        </p:nvSpPr>
        <p:spPr>
          <a:xfrm>
            <a:off x="411480" y="822960"/>
            <a:ext cx="83210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One-vs-Rest ROC: each class treated as positive vs all others. Computed separately for Train, Validation, and Test sets to check for overfitting.</a:t>
            </a:r>
            <a:endParaRPr lang="en-US" sz="11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5102843-2E39-BBCD-1333-1E78A748F356}"/>
              </a:ext>
            </a:extLst>
          </p:cNvPr>
          <p:cNvSpPr/>
          <p:nvPr/>
        </p:nvSpPr>
        <p:spPr>
          <a:xfrm>
            <a:off x="228600" y="1728216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AUC Scores by Stage &amp; Split</a:t>
            </a:r>
            <a:endParaRPr lang="en-US" sz="13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0517FC0-E7D0-8BD7-72AC-18F93F7DA31C}"/>
              </a:ext>
            </a:extLst>
          </p:cNvPr>
          <p:cNvSpPr/>
          <p:nvPr/>
        </p:nvSpPr>
        <p:spPr>
          <a:xfrm>
            <a:off x="91440" y="2203704"/>
            <a:ext cx="100584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85234D5-DD35-5F35-0E5C-671F712187AE}"/>
              </a:ext>
            </a:extLst>
          </p:cNvPr>
          <p:cNvSpPr/>
          <p:nvPr/>
        </p:nvSpPr>
        <p:spPr>
          <a:xfrm>
            <a:off x="91440" y="220370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0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0EE3F33E-43E7-59DB-8EB7-9DC334D36D5E}"/>
              </a:ext>
            </a:extLst>
          </p:cNvPr>
          <p:cNvSpPr/>
          <p:nvPr/>
        </p:nvSpPr>
        <p:spPr>
          <a:xfrm>
            <a:off x="1097280" y="2203704"/>
            <a:ext cx="128016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C7EEEB2-F953-54CD-03B7-EE7482152259}"/>
              </a:ext>
            </a:extLst>
          </p:cNvPr>
          <p:cNvSpPr/>
          <p:nvPr/>
        </p:nvSpPr>
        <p:spPr>
          <a:xfrm>
            <a:off x="1097280" y="2203704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AUC</a:t>
            </a:r>
            <a:endParaRPr lang="en-US" sz="1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B891E516-4E61-DA71-43FA-141343CFE07E}"/>
              </a:ext>
            </a:extLst>
          </p:cNvPr>
          <p:cNvSpPr/>
          <p:nvPr/>
        </p:nvSpPr>
        <p:spPr>
          <a:xfrm>
            <a:off x="2377440" y="2203704"/>
            <a:ext cx="155448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B7D6C21-B3C0-9C20-B73F-2E0DBF41E36F}"/>
              </a:ext>
            </a:extLst>
          </p:cNvPr>
          <p:cNvSpPr/>
          <p:nvPr/>
        </p:nvSpPr>
        <p:spPr>
          <a:xfrm>
            <a:off x="2377440" y="2203704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AUC</a:t>
            </a:r>
            <a:endParaRPr lang="en-US" sz="10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A980AEED-5187-56CC-FB98-1E65C9FAA314}"/>
              </a:ext>
            </a:extLst>
          </p:cNvPr>
          <p:cNvSpPr/>
          <p:nvPr/>
        </p:nvSpPr>
        <p:spPr>
          <a:xfrm>
            <a:off x="3931920" y="2203704"/>
            <a:ext cx="128016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CF4C872-B343-9C65-BB6E-E0BFBB3527B7}"/>
              </a:ext>
            </a:extLst>
          </p:cNvPr>
          <p:cNvSpPr/>
          <p:nvPr/>
        </p:nvSpPr>
        <p:spPr>
          <a:xfrm>
            <a:off x="3931920" y="2203704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AUC</a:t>
            </a:r>
            <a:endParaRPr lang="en-US" sz="10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3AB34D5A-E5B9-0A55-2309-7A71FC5837A6}"/>
              </a:ext>
            </a:extLst>
          </p:cNvPr>
          <p:cNvSpPr/>
          <p:nvPr/>
        </p:nvSpPr>
        <p:spPr>
          <a:xfrm>
            <a:off x="5212080" y="2203704"/>
            <a:ext cx="393192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F2B8979-3CE0-6FF2-0A6D-6250245B0889}"/>
              </a:ext>
            </a:extLst>
          </p:cNvPr>
          <p:cNvSpPr/>
          <p:nvPr/>
        </p:nvSpPr>
        <p:spPr>
          <a:xfrm>
            <a:off x="5212080" y="220370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0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41FF25B2-ED39-2C48-349D-1B1A7FB9B970}"/>
              </a:ext>
            </a:extLst>
          </p:cNvPr>
          <p:cNvSpPr/>
          <p:nvPr/>
        </p:nvSpPr>
        <p:spPr>
          <a:xfrm>
            <a:off x="91440" y="2496312"/>
            <a:ext cx="10058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99483853-1210-4F68-C495-1EBA7A6FE960}"/>
              </a:ext>
            </a:extLst>
          </p:cNvPr>
          <p:cNvSpPr/>
          <p:nvPr/>
        </p:nvSpPr>
        <p:spPr>
          <a:xfrm>
            <a:off x="137160" y="2496312"/>
            <a:ext cx="932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E6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</a:t>
            </a:r>
            <a:endParaRPr lang="en-US" sz="95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65D91F59-6C71-4AC3-B441-6C92B66E9740}"/>
              </a:ext>
            </a:extLst>
          </p:cNvPr>
          <p:cNvSpPr/>
          <p:nvPr/>
        </p:nvSpPr>
        <p:spPr>
          <a:xfrm>
            <a:off x="1097280" y="2496312"/>
            <a:ext cx="12801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70C3F303-D013-9202-A6D2-06D9FB076151}"/>
              </a:ext>
            </a:extLst>
          </p:cNvPr>
          <p:cNvSpPr/>
          <p:nvPr/>
        </p:nvSpPr>
        <p:spPr>
          <a:xfrm>
            <a:off x="1143000" y="2496312"/>
            <a:ext cx="1207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~0.97</a:t>
            </a:r>
            <a:endParaRPr lang="en-US" sz="95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53916DAF-B8C1-35BC-7591-76CB8C746E7B}"/>
              </a:ext>
            </a:extLst>
          </p:cNvPr>
          <p:cNvSpPr/>
          <p:nvPr/>
        </p:nvSpPr>
        <p:spPr>
          <a:xfrm>
            <a:off x="2377440" y="2496312"/>
            <a:ext cx="15544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EA5847B7-F077-DDB8-634E-A72106645AE4}"/>
              </a:ext>
            </a:extLst>
          </p:cNvPr>
          <p:cNvSpPr/>
          <p:nvPr/>
        </p:nvSpPr>
        <p:spPr>
          <a:xfrm>
            <a:off x="2423160" y="2496312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~0.95</a:t>
            </a:r>
            <a:endParaRPr lang="en-US" sz="95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4C6E3974-8047-EAA4-B9E2-6BF0F8F8AE5A}"/>
              </a:ext>
            </a:extLst>
          </p:cNvPr>
          <p:cNvSpPr/>
          <p:nvPr/>
        </p:nvSpPr>
        <p:spPr>
          <a:xfrm>
            <a:off x="3931920" y="2496312"/>
            <a:ext cx="12801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9B53931B-AC5E-0F0B-C4DF-03AC28227A8A}"/>
              </a:ext>
            </a:extLst>
          </p:cNvPr>
          <p:cNvSpPr/>
          <p:nvPr/>
        </p:nvSpPr>
        <p:spPr>
          <a:xfrm>
            <a:off x="3977640" y="2496312"/>
            <a:ext cx="1207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~0.94</a:t>
            </a:r>
            <a:endParaRPr lang="en-US" sz="95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082D172A-9857-2416-6220-D59C680997D7}"/>
              </a:ext>
            </a:extLst>
          </p:cNvPr>
          <p:cNvSpPr/>
          <p:nvPr/>
        </p:nvSpPr>
        <p:spPr>
          <a:xfrm>
            <a:off x="5212080" y="2496312"/>
            <a:ext cx="39319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4CDA7F55-6E5E-C4B0-E2B6-78771EBB6622}"/>
              </a:ext>
            </a:extLst>
          </p:cNvPr>
          <p:cNvSpPr/>
          <p:nvPr/>
        </p:nvSpPr>
        <p:spPr>
          <a:xfrm>
            <a:off x="5257800" y="2496312"/>
            <a:ext cx="3858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— very distinct from all other stages</a:t>
            </a:r>
            <a:endParaRPr lang="en-US" sz="95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D5DD4177-7574-ECAA-CF67-E1B80EEC8F38}"/>
              </a:ext>
            </a:extLst>
          </p:cNvPr>
          <p:cNvSpPr/>
          <p:nvPr/>
        </p:nvSpPr>
        <p:spPr>
          <a:xfrm>
            <a:off x="91440" y="2788920"/>
            <a:ext cx="1005840" cy="274320"/>
          </a:xfrm>
          <a:prstGeom prst="rect">
            <a:avLst/>
          </a:prstGeom>
          <a:solidFill>
            <a:srgbClr val="F5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8ADFF0D5-F71C-A048-0D9F-A8CFE0F61EA9}"/>
              </a:ext>
            </a:extLst>
          </p:cNvPr>
          <p:cNvSpPr/>
          <p:nvPr/>
        </p:nvSpPr>
        <p:spPr>
          <a:xfrm>
            <a:off x="137160" y="2788920"/>
            <a:ext cx="932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</a:t>
            </a:r>
            <a:endParaRPr lang="en-US" sz="95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36589B08-9B2B-2DD2-505C-190CAF6F6EB2}"/>
              </a:ext>
            </a:extLst>
          </p:cNvPr>
          <p:cNvSpPr/>
          <p:nvPr/>
        </p:nvSpPr>
        <p:spPr>
          <a:xfrm>
            <a:off x="1097280" y="2788920"/>
            <a:ext cx="1280160" cy="274320"/>
          </a:xfrm>
          <a:prstGeom prst="rect">
            <a:avLst/>
          </a:prstGeom>
          <a:solidFill>
            <a:srgbClr val="F5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1F547B15-BC1C-AC30-318C-6D5A336080F8}"/>
              </a:ext>
            </a:extLst>
          </p:cNvPr>
          <p:cNvSpPr/>
          <p:nvPr/>
        </p:nvSpPr>
        <p:spPr>
          <a:xfrm>
            <a:off x="1143000" y="2788920"/>
            <a:ext cx="1207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~0.88</a:t>
            </a:r>
            <a:endParaRPr lang="en-US" sz="950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BE0F57B9-95E7-0DD6-0904-AA1DDFF1DB61}"/>
              </a:ext>
            </a:extLst>
          </p:cNvPr>
          <p:cNvSpPr/>
          <p:nvPr/>
        </p:nvSpPr>
        <p:spPr>
          <a:xfrm>
            <a:off x="2377440" y="2788920"/>
            <a:ext cx="1554480" cy="274320"/>
          </a:xfrm>
          <a:prstGeom prst="rect">
            <a:avLst/>
          </a:prstGeom>
          <a:solidFill>
            <a:srgbClr val="F5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456CBCEA-1C56-3C01-0BB9-588C892ACB72}"/>
              </a:ext>
            </a:extLst>
          </p:cNvPr>
          <p:cNvSpPr/>
          <p:nvPr/>
        </p:nvSpPr>
        <p:spPr>
          <a:xfrm>
            <a:off x="2423160" y="2788920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~0.82</a:t>
            </a:r>
            <a:endParaRPr lang="en-US" sz="95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377F107E-EBDD-005A-1A61-C4AE50526A3A}"/>
              </a:ext>
            </a:extLst>
          </p:cNvPr>
          <p:cNvSpPr/>
          <p:nvPr/>
        </p:nvSpPr>
        <p:spPr>
          <a:xfrm>
            <a:off x="3931920" y="2788920"/>
            <a:ext cx="1280160" cy="274320"/>
          </a:xfrm>
          <a:prstGeom prst="rect">
            <a:avLst/>
          </a:prstGeom>
          <a:solidFill>
            <a:srgbClr val="F5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710D76A8-F94F-DD4E-3E59-0AA2A780A10A}"/>
              </a:ext>
            </a:extLst>
          </p:cNvPr>
          <p:cNvSpPr/>
          <p:nvPr/>
        </p:nvSpPr>
        <p:spPr>
          <a:xfrm>
            <a:off x="3977640" y="2788920"/>
            <a:ext cx="1207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~0.80</a:t>
            </a:r>
            <a:endParaRPr lang="en-US" sz="950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1FD5B822-5ACF-A844-8620-189E1333BDDB}"/>
              </a:ext>
            </a:extLst>
          </p:cNvPr>
          <p:cNvSpPr/>
          <p:nvPr/>
        </p:nvSpPr>
        <p:spPr>
          <a:xfrm>
            <a:off x="5212080" y="2788920"/>
            <a:ext cx="3931920" cy="274320"/>
          </a:xfrm>
          <a:prstGeom prst="rect">
            <a:avLst/>
          </a:prstGeom>
          <a:solidFill>
            <a:srgbClr val="F5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5C276123-1DBE-EF85-C7E5-8C84E89B9141}"/>
              </a:ext>
            </a:extLst>
          </p:cNvPr>
          <p:cNvSpPr/>
          <p:nvPr/>
        </p:nvSpPr>
        <p:spPr>
          <a:xfrm>
            <a:off x="5257800" y="2788920"/>
            <a:ext cx="3858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AUC — hard to separate from N2/Wake</a:t>
            </a:r>
            <a:endParaRPr lang="en-US" sz="950" dirty="0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BD1032D6-78B3-EC5D-992F-8BB1DA22EBDB}"/>
              </a:ext>
            </a:extLst>
          </p:cNvPr>
          <p:cNvSpPr/>
          <p:nvPr/>
        </p:nvSpPr>
        <p:spPr>
          <a:xfrm>
            <a:off x="91440" y="3081528"/>
            <a:ext cx="10058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B3C2783E-5102-F125-DF3D-7FBE71745C1F}"/>
              </a:ext>
            </a:extLst>
          </p:cNvPr>
          <p:cNvSpPr/>
          <p:nvPr/>
        </p:nvSpPr>
        <p:spPr>
          <a:xfrm>
            <a:off x="137160" y="3081528"/>
            <a:ext cx="932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N2</a:t>
            </a:r>
            <a:endParaRPr lang="en-US" sz="950" dirty="0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32C452C6-E21C-722E-367F-AEEE371BCBBB}"/>
              </a:ext>
            </a:extLst>
          </p:cNvPr>
          <p:cNvSpPr/>
          <p:nvPr/>
        </p:nvSpPr>
        <p:spPr>
          <a:xfrm>
            <a:off x="1097280" y="3081528"/>
            <a:ext cx="12801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99E3088C-AE99-BF3B-81B6-A1760D5FEC6A}"/>
              </a:ext>
            </a:extLst>
          </p:cNvPr>
          <p:cNvSpPr/>
          <p:nvPr/>
        </p:nvSpPr>
        <p:spPr>
          <a:xfrm>
            <a:off x="1143000" y="3081528"/>
            <a:ext cx="1207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~0.96</a:t>
            </a:r>
            <a:endParaRPr lang="en-US" sz="950" dirty="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78A5FFA5-A780-A9DE-D35E-E6E537607BAB}"/>
              </a:ext>
            </a:extLst>
          </p:cNvPr>
          <p:cNvSpPr/>
          <p:nvPr/>
        </p:nvSpPr>
        <p:spPr>
          <a:xfrm>
            <a:off x="2377440" y="3081528"/>
            <a:ext cx="15544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9244A287-63F2-4894-D553-8094237045A6}"/>
              </a:ext>
            </a:extLst>
          </p:cNvPr>
          <p:cNvSpPr/>
          <p:nvPr/>
        </p:nvSpPr>
        <p:spPr>
          <a:xfrm>
            <a:off x="2423160" y="3081528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~0.95</a:t>
            </a:r>
            <a:endParaRPr lang="en-US" sz="950" dirty="0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F3991CFC-3A5C-0421-9BBD-E305D31D4245}"/>
              </a:ext>
            </a:extLst>
          </p:cNvPr>
          <p:cNvSpPr/>
          <p:nvPr/>
        </p:nvSpPr>
        <p:spPr>
          <a:xfrm>
            <a:off x="3931920" y="3081528"/>
            <a:ext cx="12801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2B387AA8-0C21-BC25-C924-A9FC46FF3734}"/>
              </a:ext>
            </a:extLst>
          </p:cNvPr>
          <p:cNvSpPr/>
          <p:nvPr/>
        </p:nvSpPr>
        <p:spPr>
          <a:xfrm>
            <a:off x="3977640" y="3081528"/>
            <a:ext cx="1207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~0.94</a:t>
            </a:r>
            <a:endParaRPr lang="en-US" sz="950" dirty="0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BF063F86-FFA8-C104-4257-226145D44559}"/>
              </a:ext>
            </a:extLst>
          </p:cNvPr>
          <p:cNvSpPr/>
          <p:nvPr/>
        </p:nvSpPr>
        <p:spPr>
          <a:xfrm>
            <a:off x="5212080" y="3081528"/>
            <a:ext cx="39319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6C6255C3-4097-6011-5626-0E89371A65ED}"/>
              </a:ext>
            </a:extLst>
          </p:cNvPr>
          <p:cNvSpPr/>
          <p:nvPr/>
        </p:nvSpPr>
        <p:spPr>
          <a:xfrm>
            <a:off x="5257800" y="3081528"/>
            <a:ext cx="3858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— majority class with clear patterns</a:t>
            </a:r>
            <a:endParaRPr lang="en-US" sz="950" dirty="0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B3910BA0-3BD9-8682-1D19-4106B9C9D3B2}"/>
              </a:ext>
            </a:extLst>
          </p:cNvPr>
          <p:cNvSpPr/>
          <p:nvPr/>
        </p:nvSpPr>
        <p:spPr>
          <a:xfrm>
            <a:off x="91440" y="3374136"/>
            <a:ext cx="1005840" cy="274320"/>
          </a:xfrm>
          <a:prstGeom prst="rect">
            <a:avLst/>
          </a:prstGeom>
          <a:solidFill>
            <a:srgbClr val="F5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FDF14133-8AFA-3E93-9F84-8B77231840FC}"/>
              </a:ext>
            </a:extLst>
          </p:cNvPr>
          <p:cNvSpPr/>
          <p:nvPr/>
        </p:nvSpPr>
        <p:spPr>
          <a:xfrm>
            <a:off x="137160" y="3374136"/>
            <a:ext cx="932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N3</a:t>
            </a:r>
            <a:endParaRPr lang="en-US" sz="950" dirty="0"/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531170EB-42D0-107D-50C2-C9BC3790D49F}"/>
              </a:ext>
            </a:extLst>
          </p:cNvPr>
          <p:cNvSpPr/>
          <p:nvPr/>
        </p:nvSpPr>
        <p:spPr>
          <a:xfrm>
            <a:off x="1097280" y="3374136"/>
            <a:ext cx="1280160" cy="274320"/>
          </a:xfrm>
          <a:prstGeom prst="rect">
            <a:avLst/>
          </a:prstGeom>
          <a:solidFill>
            <a:srgbClr val="F5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5F7F876E-33F3-F37B-02F9-2DFE9C425D0E}"/>
              </a:ext>
            </a:extLst>
          </p:cNvPr>
          <p:cNvSpPr/>
          <p:nvPr/>
        </p:nvSpPr>
        <p:spPr>
          <a:xfrm>
            <a:off x="1143000" y="3374136"/>
            <a:ext cx="1207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~0.97</a:t>
            </a:r>
            <a:endParaRPr lang="en-US" sz="950" dirty="0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4327FDA8-0317-532E-6658-5CA3A42B8AC8}"/>
              </a:ext>
            </a:extLst>
          </p:cNvPr>
          <p:cNvSpPr/>
          <p:nvPr/>
        </p:nvSpPr>
        <p:spPr>
          <a:xfrm>
            <a:off x="2377440" y="3374136"/>
            <a:ext cx="1554480" cy="274320"/>
          </a:xfrm>
          <a:prstGeom prst="rect">
            <a:avLst/>
          </a:prstGeom>
          <a:solidFill>
            <a:srgbClr val="F5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53A6DB3F-CB3E-145E-628B-9CEA9CB08DB4}"/>
              </a:ext>
            </a:extLst>
          </p:cNvPr>
          <p:cNvSpPr/>
          <p:nvPr/>
        </p:nvSpPr>
        <p:spPr>
          <a:xfrm>
            <a:off x="2423160" y="3374136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~0.96</a:t>
            </a:r>
            <a:endParaRPr lang="en-US" sz="950" dirty="0"/>
          </a:p>
        </p:txBody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F0F0A54E-FB6C-4D94-E3EC-5B8FA20E1775}"/>
              </a:ext>
            </a:extLst>
          </p:cNvPr>
          <p:cNvSpPr/>
          <p:nvPr/>
        </p:nvSpPr>
        <p:spPr>
          <a:xfrm>
            <a:off x="3931920" y="3374136"/>
            <a:ext cx="1280160" cy="274320"/>
          </a:xfrm>
          <a:prstGeom prst="rect">
            <a:avLst/>
          </a:prstGeom>
          <a:solidFill>
            <a:srgbClr val="F5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02EFA294-AF08-6E69-9DA6-7A66E33C3C65}"/>
              </a:ext>
            </a:extLst>
          </p:cNvPr>
          <p:cNvSpPr/>
          <p:nvPr/>
        </p:nvSpPr>
        <p:spPr>
          <a:xfrm>
            <a:off x="3977640" y="3374136"/>
            <a:ext cx="1207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~0.95</a:t>
            </a:r>
            <a:endParaRPr lang="en-US" sz="950" dirty="0"/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DF247998-11A2-3A7F-31E9-1E46E56AD3EC}"/>
              </a:ext>
            </a:extLst>
          </p:cNvPr>
          <p:cNvSpPr/>
          <p:nvPr/>
        </p:nvSpPr>
        <p:spPr>
          <a:xfrm>
            <a:off x="5212080" y="3374136"/>
            <a:ext cx="3931920" cy="274320"/>
          </a:xfrm>
          <a:prstGeom prst="rect">
            <a:avLst/>
          </a:prstGeom>
          <a:solidFill>
            <a:srgbClr val="F5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7765C3B5-CE73-D888-26ED-91CF6D94B3AF}"/>
              </a:ext>
            </a:extLst>
          </p:cNvPr>
          <p:cNvSpPr/>
          <p:nvPr/>
        </p:nvSpPr>
        <p:spPr>
          <a:xfrm>
            <a:off x="5257800" y="3374136"/>
            <a:ext cx="3858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— deep sleep has distinct low-HR signature</a:t>
            </a:r>
            <a:endParaRPr lang="en-US" sz="950" dirty="0"/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5AC665A1-04ED-FFFF-BB53-D27F4BDF9C39}"/>
              </a:ext>
            </a:extLst>
          </p:cNvPr>
          <p:cNvSpPr/>
          <p:nvPr/>
        </p:nvSpPr>
        <p:spPr>
          <a:xfrm>
            <a:off x="91440" y="3666744"/>
            <a:ext cx="10058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EBABBF1D-F7B0-EDA3-AABB-DEB6BC77F0C0}"/>
              </a:ext>
            </a:extLst>
          </p:cNvPr>
          <p:cNvSpPr/>
          <p:nvPr/>
        </p:nvSpPr>
        <p:spPr>
          <a:xfrm>
            <a:off x="137160" y="3666744"/>
            <a:ext cx="932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E2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</a:t>
            </a:r>
            <a:endParaRPr lang="en-US" sz="950" dirty="0"/>
          </a:p>
        </p:txBody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102971B2-8061-E6B7-FA1C-EABAE5E60506}"/>
              </a:ext>
            </a:extLst>
          </p:cNvPr>
          <p:cNvSpPr/>
          <p:nvPr/>
        </p:nvSpPr>
        <p:spPr>
          <a:xfrm>
            <a:off x="1097280" y="3666744"/>
            <a:ext cx="12801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AFF43976-2EED-8764-C1ED-7AA0AF8E1C88}"/>
              </a:ext>
            </a:extLst>
          </p:cNvPr>
          <p:cNvSpPr/>
          <p:nvPr/>
        </p:nvSpPr>
        <p:spPr>
          <a:xfrm>
            <a:off x="1143000" y="3666744"/>
            <a:ext cx="1207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~0.93</a:t>
            </a:r>
            <a:endParaRPr lang="en-US" sz="950" dirty="0"/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935DE351-7176-FC82-6DCF-B1C897CB728E}"/>
              </a:ext>
            </a:extLst>
          </p:cNvPr>
          <p:cNvSpPr/>
          <p:nvPr/>
        </p:nvSpPr>
        <p:spPr>
          <a:xfrm>
            <a:off x="2377440" y="3666744"/>
            <a:ext cx="15544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B7E29A6A-8549-4C33-F776-54935F360088}"/>
              </a:ext>
            </a:extLst>
          </p:cNvPr>
          <p:cNvSpPr/>
          <p:nvPr/>
        </p:nvSpPr>
        <p:spPr>
          <a:xfrm>
            <a:off x="2423160" y="3666744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~0.91</a:t>
            </a:r>
            <a:endParaRPr lang="en-US" sz="950" dirty="0"/>
          </a:p>
        </p:txBody>
      </p:sp>
      <p:sp>
        <p:nvSpPr>
          <p:cNvPr id="63" name="Shape 61">
            <a:extLst>
              <a:ext uri="{FF2B5EF4-FFF2-40B4-BE49-F238E27FC236}">
                <a16:creationId xmlns:a16="http://schemas.microsoft.com/office/drawing/2014/main" id="{2514FB35-8CFA-0459-6104-217DCCB04D81}"/>
              </a:ext>
            </a:extLst>
          </p:cNvPr>
          <p:cNvSpPr/>
          <p:nvPr/>
        </p:nvSpPr>
        <p:spPr>
          <a:xfrm>
            <a:off x="3931920" y="3666744"/>
            <a:ext cx="12801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AF5F33FD-4DD4-D7C5-C81C-0751BEFA07A3}"/>
              </a:ext>
            </a:extLst>
          </p:cNvPr>
          <p:cNvSpPr/>
          <p:nvPr/>
        </p:nvSpPr>
        <p:spPr>
          <a:xfrm>
            <a:off x="3977640" y="3666744"/>
            <a:ext cx="1207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~0.90</a:t>
            </a:r>
            <a:endParaRPr lang="en-US" sz="950" dirty="0"/>
          </a:p>
        </p:txBody>
      </p:sp>
      <p:sp>
        <p:nvSpPr>
          <p:cNvPr id="65" name="Shape 63">
            <a:extLst>
              <a:ext uri="{FF2B5EF4-FFF2-40B4-BE49-F238E27FC236}">
                <a16:creationId xmlns:a16="http://schemas.microsoft.com/office/drawing/2014/main" id="{AFAABF4B-2DDA-E05E-42BF-F7DE3B4D039A}"/>
              </a:ext>
            </a:extLst>
          </p:cNvPr>
          <p:cNvSpPr/>
          <p:nvPr/>
        </p:nvSpPr>
        <p:spPr>
          <a:xfrm>
            <a:off x="5212080" y="3666744"/>
            <a:ext cx="39319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>
            <a:extLst>
              <a:ext uri="{FF2B5EF4-FFF2-40B4-BE49-F238E27FC236}">
                <a16:creationId xmlns:a16="http://schemas.microsoft.com/office/drawing/2014/main" id="{AC915E8B-0B4C-3AB3-865F-D52E50890A20}"/>
              </a:ext>
            </a:extLst>
          </p:cNvPr>
          <p:cNvSpPr/>
          <p:nvPr/>
        </p:nvSpPr>
        <p:spPr>
          <a:xfrm>
            <a:off x="5257800" y="3666744"/>
            <a:ext cx="3858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— slight Wake overlap but context helps</a:t>
            </a:r>
            <a:endParaRPr lang="en-US" sz="950" dirty="0"/>
          </a:p>
        </p:txBody>
      </p:sp>
      <p:sp>
        <p:nvSpPr>
          <p:cNvPr id="74" name="Shape 72">
            <a:extLst>
              <a:ext uri="{FF2B5EF4-FFF2-40B4-BE49-F238E27FC236}">
                <a16:creationId xmlns:a16="http://schemas.microsoft.com/office/drawing/2014/main" id="{48F7DC5A-1151-91A1-42E9-1BBA38102966}"/>
              </a:ext>
            </a:extLst>
          </p:cNvPr>
          <p:cNvSpPr/>
          <p:nvPr/>
        </p:nvSpPr>
        <p:spPr>
          <a:xfrm>
            <a:off x="237744" y="4273864"/>
            <a:ext cx="850392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>
            <a:extLst>
              <a:ext uri="{FF2B5EF4-FFF2-40B4-BE49-F238E27FC236}">
                <a16:creationId xmlns:a16="http://schemas.microsoft.com/office/drawing/2014/main" id="{54352EF5-874D-312C-32E4-9F2E2D30123E}"/>
              </a:ext>
            </a:extLst>
          </p:cNvPr>
          <p:cNvSpPr/>
          <p:nvPr/>
        </p:nvSpPr>
        <p:spPr>
          <a:xfrm>
            <a:off x="237744" y="4292152"/>
            <a:ext cx="83210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Split: </a:t>
            </a:r>
            <a:r>
              <a:rPr lang="ar-EG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Train | </a:t>
            </a:r>
            <a:r>
              <a:rPr lang="ar-EG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Val &amp; Test — stratified by class to ensure balanced representation in each set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10855559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6091"/>
          </a:solidFill>
          <a:ln w="12700">
            <a:solidFill>
              <a:srgbClr val="1E60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IBM Plex Mono" panose="020B0509050203000203" pitchFamily="49" charset="0"/>
                <a:ea typeface="Calibri" pitchFamily="34" charset="-122"/>
                <a:cs typeface="Calibri" pitchFamily="34" charset="-120"/>
              </a:rPr>
              <a:t>ROC Curves &amp; AUC Analysis</a:t>
            </a:r>
            <a:endParaRPr lang="en-US" sz="2200" dirty="0">
              <a:latin typeface="IBM Plex Mono" panose="020B0509050203000203" pitchFamily="49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850392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22960"/>
            <a:ext cx="83210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One-vs-Rest ROC: each class treated as positive vs all others. Computed separately for Train, Validation, and Test sets to check for overfitting.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40680" y="166420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000" dirty="0"/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FF9FED0B-EA6C-8F8D-B731-8E5BE1DA3E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41" y="1664208"/>
            <a:ext cx="9052859" cy="3173767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8B9C4B89-52E3-D2E2-6DCF-B1538BFADC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280757"/>
            <a:ext cx="2151031" cy="73032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IBM Plex Mono" panose="020B0509050203000203" pitchFamily="49" charset="0"/>
                <a:ea typeface="Calibri" pitchFamily="34" charset="-122"/>
                <a:cs typeface="Calibri" pitchFamily="34" charset="-120"/>
              </a:rPr>
              <a:t>Engineering Challenges &amp; Solutions</a:t>
            </a:r>
            <a:endParaRPr lang="en-US" sz="2200" dirty="0">
              <a:latin typeface="IBM Plex Mono" panose="020B0509050203000203" pitchFamily="49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1229001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1E609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229001"/>
            <a:ext cx="64008" cy="713232"/>
          </a:xfrm>
          <a:prstGeom prst="rect">
            <a:avLst/>
          </a:prstGeom>
          <a:solidFill>
            <a:srgbClr val="1E6091"/>
          </a:solidFill>
          <a:ln w="12700">
            <a:solidFill>
              <a:srgbClr val="1E609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29001"/>
            <a:ext cx="1828800" cy="713232"/>
          </a:xfrm>
          <a:prstGeom prst="rect">
            <a:avLst/>
          </a:prstGeom>
          <a:solidFill>
            <a:srgbClr val="1E6091">
              <a:alpha val="1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283865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6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Memory Management (OOM Errors)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240280" y="1274721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Processed spectral features in batches using numpy memmap — never loads full dataset into RAM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40280" y="1631337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Essential for running on free Colab (~12GB RAM) with large EDF datasets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024529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024529"/>
            <a:ext cx="64008" cy="713232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024529"/>
            <a:ext cx="1828800" cy="713232"/>
          </a:xfrm>
          <a:prstGeom prst="rect">
            <a:avLst/>
          </a:prstGeom>
          <a:solidFill>
            <a:srgbClr val="7B2D8B">
              <a:alpha val="1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" y="2079393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Severe Class Imbalance (N1 = 5%)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240280" y="2070249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Multi-strategy oversampling: ECG augmentation + Mixup for N1; augmentation only for N3/REM; focal loss γ=2.5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40280" y="2426865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Without this, model would achieve 80%+ accuracy by ignoring N1 entirely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2852061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2852061"/>
            <a:ext cx="64008" cy="71323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2852061"/>
            <a:ext cx="1828800" cy="713232"/>
          </a:xfrm>
          <a:prstGeom prst="rect">
            <a:avLst/>
          </a:prstGeom>
          <a:solidFill>
            <a:srgbClr val="1A7A4A">
              <a:alpha val="1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3192" y="2906925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EKG Channel Name Mismatch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240280" y="2897781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Exact string match only ('EKG') — prevents accidental selection of EKG_Off, EKG2, EKG_ref variants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240280" y="3254397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Different EDF files may have different channel naming conventions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3647589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647589"/>
            <a:ext cx="64008" cy="7132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647589"/>
            <a:ext cx="1828800" cy="713232"/>
          </a:xfrm>
          <a:prstGeom prst="rect">
            <a:avLst/>
          </a:prstGeom>
          <a:solidFill>
            <a:srgbClr val="0A9396">
              <a:alpha val="1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3192" y="3702453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REM vs Wake Ambiguity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240280" y="3693309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Sequence context (9 epochs window) + HRV spectral features + boosted REM weight (×2.5)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240280" y="4049925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Both stages have similar HR variability; temporal context disambiguates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274320"/>
            <a:ext cx="2743200" cy="2743200"/>
          </a:xfrm>
          <a:prstGeom prst="ellipse">
            <a:avLst/>
          </a:prstGeom>
          <a:solidFill>
            <a:srgbClr val="0A9396">
              <a:alpha val="20000"/>
            </a:srgbClr>
          </a:solidFill>
          <a:ln w="12700">
            <a:solidFill>
              <a:srgbClr val="0A9396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25780" y="3724656"/>
            <a:ext cx="1828800" cy="1828800"/>
          </a:xfrm>
          <a:prstGeom prst="ellipse">
            <a:avLst/>
          </a:prstGeom>
          <a:solidFill>
            <a:srgbClr val="94D2BD">
              <a:alpha val="15000"/>
            </a:srgbClr>
          </a:solidFill>
          <a:ln w="12700">
            <a:solidFill>
              <a:srgbClr val="94D2BD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Mono" panose="020B0509050203000203" pitchFamily="49" charset="0"/>
                <a:ea typeface="Calibri" pitchFamily="34" charset="-122"/>
                <a:cs typeface="Calibri" pitchFamily="34" charset="-120"/>
              </a:rPr>
              <a:t>Summary &amp; Conclusions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Mono" panose="020B0509050203000203" pitchFamily="49" charset="0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645920" cy="54864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97280"/>
            <a:ext cx="4160520" cy="1143000"/>
          </a:xfrm>
          <a:prstGeom prst="rect">
            <a:avLst/>
          </a:prstGeom>
          <a:solidFill>
            <a:srgbClr val="1E6091">
              <a:alpha val="90000"/>
            </a:srgbClr>
          </a:solidFill>
          <a:ln w="12700">
            <a:solidFill>
              <a:srgbClr val="1E609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97280"/>
            <a:ext cx="4160520" cy="347472"/>
          </a:xfrm>
          <a:prstGeom prst="rect">
            <a:avLst/>
          </a:prstGeom>
          <a:solidFill>
            <a:srgbClr val="1E6091"/>
          </a:solidFill>
          <a:ln w="12700">
            <a:solidFill>
              <a:srgbClr val="1E609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9728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29768" y="1499616"/>
            <a:ext cx="39502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Complete sleep staging system: raw EDF → labeled epochs → features → model → evaluation, all in reproducible Colab cells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727448" y="1097280"/>
            <a:ext cx="4160520" cy="1143000"/>
          </a:xfrm>
          <a:prstGeom prst="rect">
            <a:avLst/>
          </a:prstGeom>
          <a:solidFill>
            <a:srgbClr val="0A9396">
              <a:alpha val="90000"/>
            </a:srgbClr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27448" y="1097280"/>
            <a:ext cx="4160520" cy="34747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27448" y="109728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Single-Channel ECG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837176" y="1499616"/>
            <a:ext cx="39502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that ECG alone (without EEG/EOG/EMG) can classify 5-stage sleep with competitive accuracy via deep learning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0040" y="2377440"/>
            <a:ext cx="4160520" cy="1143000"/>
          </a:xfrm>
          <a:prstGeom prst="rect">
            <a:avLst/>
          </a:prstGeom>
          <a:solidFill>
            <a:srgbClr val="7B2D8B">
              <a:alpha val="90000"/>
            </a:srgbClr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377440"/>
            <a:ext cx="4160520" cy="347472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37744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Hybrid Architecture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29768" y="2779776"/>
            <a:ext cx="39502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Multi-scale CNN captures local ECG patterns; Transformer captures inter-epoch context; both are critical for REM detection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727448" y="2377440"/>
            <a:ext cx="4160520" cy="1143000"/>
          </a:xfrm>
          <a:prstGeom prst="rect">
            <a:avLst/>
          </a:prstGeom>
          <a:solidFill>
            <a:srgbClr val="C84B31">
              <a:alpha val="90000"/>
            </a:srgbClr>
          </a:solidFill>
          <a:ln w="12700">
            <a:solidFill>
              <a:srgbClr val="C84B3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27448" y="2377440"/>
            <a:ext cx="4160520" cy="347472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27448" y="237744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Robust Training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837176" y="2779776"/>
            <a:ext cx="39502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Focal loss + Mixup + heavy regularization handles the severe N1/N3/REM imbalance without overfitting on small MESA sample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20040" y="4005072"/>
            <a:ext cx="8503920" cy="5029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2336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</a:t>
            </a: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single ECG channel, combined with multi-scale deep learning and careful handling of class imbalance, can achieve clinically meaningful sleep staging — paving the way for low-cost wearable sleep monitoring.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20040" y="461772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4D2B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•  Questions?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Simple Light">
    <a:dk1>
      <a:srgbClr val="1D1D1D"/>
    </a:dk1>
    <a:lt1>
      <a:srgbClr val="F5F8FF"/>
    </a:lt1>
    <a:dk2>
      <a:srgbClr val="0C0A9E"/>
    </a:dk2>
    <a:lt2>
      <a:srgbClr val="EB9109"/>
    </a:lt2>
    <a:accent1>
      <a:srgbClr val="8208D5"/>
    </a:accent1>
    <a:accent2>
      <a:srgbClr val="BFBEF7"/>
    </a:accent2>
    <a:accent3>
      <a:srgbClr val="FFFFFF"/>
    </a:accent3>
    <a:accent4>
      <a:srgbClr val="FFFFFF"/>
    </a:accent4>
    <a:accent5>
      <a:srgbClr val="FFFFFF"/>
    </a:accent5>
    <a:accent6>
      <a:srgbClr val="FFFFFF"/>
    </a:accent6>
    <a:hlink>
      <a:srgbClr val="1D1D1D"/>
    </a:hlink>
    <a:folHlink>
      <a:srgbClr val="0097A7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436</TotalTime>
  <Words>2314</Words>
  <Application>Microsoft Office PowerPoint</Application>
  <PresentationFormat>On-screen Show (16:9)</PresentationFormat>
  <Paragraphs>432</Paragraphs>
  <Slides>23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33" baseType="lpstr">
      <vt:lpstr>Arial</vt:lpstr>
      <vt:lpstr>Calibri</vt:lpstr>
      <vt:lpstr>Calibri Light</vt:lpstr>
      <vt:lpstr>Consolas</vt:lpstr>
      <vt:lpstr>Courier New</vt:lpstr>
      <vt:lpstr>IBM Plex Mono</vt:lpstr>
      <vt:lpstr>Poppins</vt:lpstr>
      <vt:lpstr>Source Code Pro</vt:lpstr>
      <vt:lpstr>Introduction to Coding Workshop by Slidesgo</vt:lpstr>
      <vt:lpstr>Office Theme</vt:lpstr>
      <vt:lpstr>AI-Based Sleep Stage Classification  A Deep Learning Pipeline Using Single-Channel EKG </vt:lpstr>
      <vt:lpstr>Group members </vt:lpstr>
      <vt:lpstr>Project Idea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LAPTOP SHOP</dc:creator>
  <cp:lastModifiedBy>LAPTOP SHOP</cp:lastModifiedBy>
  <cp:revision>6</cp:revision>
  <dcterms:modified xsi:type="dcterms:W3CDTF">2026-05-11T11:44:45Z</dcterms:modified>
</cp:coreProperties>
</file>